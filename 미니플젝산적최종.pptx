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5" r:id="rId3"/>
    <p:sldId id="264" r:id="rId4"/>
    <p:sldId id="266" r:id="rId5"/>
    <p:sldId id="267" r:id="rId6"/>
    <p:sldId id="268" r:id="rId7"/>
    <p:sldId id="275" r:id="rId8"/>
    <p:sldId id="276" r:id="rId9"/>
    <p:sldId id="278" r:id="rId10"/>
    <p:sldId id="277" r:id="rId11"/>
    <p:sldId id="279" r:id="rId12"/>
    <p:sldId id="280" r:id="rId13"/>
    <p:sldId id="262" r:id="rId14"/>
    <p:sldId id="260" r:id="rId15"/>
    <p:sldId id="261" r:id="rId16"/>
    <p:sldId id="263" r:id="rId17"/>
    <p:sldId id="269" r:id="rId18"/>
    <p:sldId id="270" r:id="rId19"/>
    <p:sldId id="271" r:id="rId20"/>
    <p:sldId id="274" r:id="rId21"/>
    <p:sldId id="273" r:id="rId22"/>
    <p:sldId id="281" r:id="rId23"/>
  </p:sldIdLst>
  <p:sldSz cx="18288000" cy="10287000"/>
  <p:notesSz cx="6858000" cy="9144000"/>
  <p:embeddedFontLst>
    <p:embeddedFont>
      <p:font typeface="G마켓 산스 TTF Light" panose="02000000000000000000" pitchFamily="2" charset="-127"/>
      <p:regular r:id="rId24"/>
    </p:embeddedFont>
    <p:embeddedFont>
      <p:font typeface="Cambria Math" panose="02040503050406030204" pitchFamily="18" charset="0"/>
      <p:regular r:id="rId25"/>
    </p:embeddedFont>
    <p:embeddedFont>
      <p:font typeface="Pretendard Bold" panose="02000803000000020004" pitchFamily="2" charset="-127"/>
      <p:bold r:id="rId26"/>
    </p:embeddedFont>
    <p:embeddedFont>
      <p:font typeface="Pretendard Regular" panose="02000503000000020004" pitchFamily="2" charset="-127"/>
      <p:regular r:id="rId27"/>
    </p:embeddedFont>
    <p:embeddedFont>
      <p:font typeface="Pretendard ExtraBold" panose="02000903000000020004" pitchFamily="2" charset="-127"/>
      <p:bold r:id="rId28"/>
    </p:embeddedFont>
    <p:embeddedFont>
      <p:font typeface="G마켓 산스 TTF Bold" panose="02000000000000000000" pitchFamily="2" charset="-127"/>
      <p:bold r:id="rId29"/>
    </p:embeddedFont>
    <p:embeddedFont>
      <p:font typeface="Pretendard" panose="02000503000000020004" pitchFamily="2" charset="-127"/>
      <p:regular r:id="rId30"/>
      <p:bold r:id="rId31"/>
    </p:embeddedFont>
    <p:embeddedFont>
      <p:font typeface="Pretendard Medium" panose="02000603000000020004" pitchFamily="2" charset="-127"/>
      <p:regular r:id="rId32"/>
      <p:bold r:id="rId33"/>
    </p:embeddedFont>
    <p:embeddedFont>
      <p:font typeface="Pretendard SemiBold" panose="02000703000000020004" pitchFamily="2" charset="-127"/>
      <p:bold r:id="rId34"/>
    </p:embeddedFont>
    <p:embeddedFont>
      <p:font typeface="맑은 고딕" panose="020B0503020000020004" pitchFamily="50" charset="-127"/>
      <p:regular r:id="rId35"/>
      <p:bold r:id="rId36"/>
    </p:embeddedFon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G마켓 산스 TTF Medium" panose="02000000000000000000" pitchFamily="2" charset="-127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-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4.png"/><Relationship Id="rId10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22.png"/><Relationship Id="rId1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27.pn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12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40.png"/><Relationship Id="rId5" Type="http://schemas.openxmlformats.org/officeDocument/2006/relationships/image" Target="../media/image4.png"/><Relationship Id="rId10" Type="http://schemas.openxmlformats.org/officeDocument/2006/relationships/image" Target="../media/image39.png"/><Relationship Id="rId4" Type="http://schemas.openxmlformats.org/officeDocument/2006/relationships/image" Target="../media/image3.png"/><Relationship Id="rId9" Type="http://schemas.openxmlformats.org/officeDocument/2006/relationships/image" Target="../media/image38.png"/><Relationship Id="rId1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4.png"/><Relationship Id="rId15" Type="http://schemas.openxmlformats.org/officeDocument/2006/relationships/image" Target="../media/image45.png"/><Relationship Id="rId10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22.png"/><Relationship Id="rId1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8.png"/><Relationship Id="rId5" Type="http://schemas.openxmlformats.org/officeDocument/2006/relationships/image" Target="../media/image4.png"/><Relationship Id="rId10" Type="http://schemas.openxmlformats.org/officeDocument/2006/relationships/image" Target="../media/image47.png"/><Relationship Id="rId4" Type="http://schemas.openxmlformats.org/officeDocument/2006/relationships/image" Target="../media/image3.png"/><Relationship Id="rId9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12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50.pn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2.png"/><Relationship Id="rId7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2.png"/><Relationship Id="rId7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03100" y="5130800"/>
            <a:ext cx="114046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219700" y="5130800"/>
            <a:ext cx="11404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9791700"/>
            <a:ext cx="18669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500" y="1765300"/>
            <a:ext cx="18923000" cy="12700"/>
          </a:xfrm>
          <a:prstGeom prst="rect">
            <a:avLst/>
          </a:prstGeom>
          <a:effectLst>
            <a:outerShdw blurRad="2" dist="141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482600"/>
            <a:ext cx="18669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890500" y="1117600"/>
            <a:ext cx="12827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114800" y="1117600"/>
            <a:ext cx="12827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00" y="1117600"/>
            <a:ext cx="42926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11600" y="8610600"/>
            <a:ext cx="7239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0" y="5930900"/>
            <a:ext cx="10972800" cy="6096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581400" y="8724900"/>
            <a:ext cx="111252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endParaRPr lang="en-US" sz="2600" b="0" i="0" u="none" strike="noStrike" spc="100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229100" y="6007100"/>
            <a:ext cx="98171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spc="1300" dirty="0" smtClean="0">
                <a:solidFill>
                  <a:srgbClr val="F5F5F5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LG U+ WHY NOT MINI PROJECT</a:t>
            </a:r>
            <a:endParaRPr lang="en-US" sz="2400" b="0" i="0" u="none" strike="noStrike" spc="1300" dirty="0">
              <a:solidFill>
                <a:srgbClr val="F5F5F5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47800" y="4483100"/>
            <a:ext cx="15887700" cy="168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7200" b="0" i="0" u="none" strike="noStrike" spc="100" dirty="0" err="1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무신사</a:t>
            </a:r>
            <a:r>
              <a:rPr lang="ko-KR" altLang="en-US" sz="7200" b="0" i="0" u="none" strike="noStrike" spc="100" dirty="0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리뷰 분석 및 사이즈 </a:t>
            </a:r>
            <a:r>
              <a:rPr lang="ko-KR" altLang="en-US" sz="7200" spc="100" dirty="0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추천 서비스</a:t>
            </a:r>
            <a:endParaRPr lang="ko-KR" sz="7200" b="0" i="0" u="none" strike="noStrike" spc="1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778500" y="698500"/>
            <a:ext cx="67437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2200" b="0" i="0" u="none" strike="noStrike" spc="600" dirty="0" smtClean="0">
                <a:solidFill>
                  <a:srgbClr val="000000"/>
                </a:solidFill>
                <a:latin typeface="Pretendard ExtraBold"/>
              </a:rPr>
              <a:t>MUSINSA</a:t>
            </a:r>
          </a:p>
          <a:p>
            <a:pPr lvl="0" algn="ctr">
              <a:lnSpc>
                <a:spcPct val="132800"/>
              </a:lnSpc>
            </a:pPr>
            <a:r>
              <a:rPr lang="en-US" sz="2200" b="0" i="0" u="none" strike="noStrike" spc="600" dirty="0" smtClean="0">
                <a:solidFill>
                  <a:srgbClr val="000000"/>
                </a:solidFill>
                <a:latin typeface="Pretendard Regular"/>
              </a:rPr>
              <a:t>PRESENTATION </a:t>
            </a:r>
            <a:endParaRPr lang="en-US" sz="2200" b="0" i="0" u="none" strike="noStrike" spc="600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17600" y="1244600"/>
            <a:ext cx="35814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000" b="0" i="0" u="none" strike="noStrike" spc="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담당자</a:t>
            </a:r>
            <a:r>
              <a:rPr lang="en-US" sz="2000" b="0" i="0" u="none" strike="noStrike" spc="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  </a:t>
            </a:r>
            <a:r>
              <a:rPr lang="ko-KR" altLang="en-US" sz="2000" spc="100" dirty="0" err="1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강이삭</a:t>
            </a:r>
            <a:r>
              <a:rPr lang="en-US" altLang="ko-KR" sz="2000" spc="100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000" spc="100" dirty="0" err="1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장은별</a:t>
            </a:r>
            <a:r>
              <a:rPr lang="en-US" altLang="ko-KR" sz="2000" spc="100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2000" spc="100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정수빈</a:t>
            </a:r>
            <a:endParaRPr lang="ko-KR" sz="2000" b="0" i="0" u="none" strike="noStrike" spc="10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17600" y="596900"/>
            <a:ext cx="2781300" cy="39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000" b="0" i="0" u="none" strike="noStrike" spc="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작성일</a:t>
            </a:r>
            <a:r>
              <a:rPr lang="en-US" sz="2000" b="0" i="0" u="none" strike="noStrike" spc="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  </a:t>
            </a:r>
            <a:r>
              <a:rPr lang="en-US" sz="2000" b="0" i="0" u="none" strike="noStrike" spc="100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" panose="02000503000000020004" pitchFamily="2" charset="-127"/>
              </a:rPr>
              <a:t>2024.11.13</a:t>
            </a:r>
            <a:endParaRPr lang="en-US" sz="2000" b="0" i="0" u="none" strike="noStrike" spc="10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03100" y="5130800"/>
            <a:ext cx="114046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219700" y="5130800"/>
            <a:ext cx="11404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9791700"/>
            <a:ext cx="18669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482600"/>
            <a:ext cx="18669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460500" y="5130800"/>
            <a:ext cx="93345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00" y="1752600"/>
            <a:ext cx="5651500" cy="12700"/>
          </a:xfrm>
          <a:prstGeom prst="rect">
            <a:avLst/>
          </a:prstGeom>
          <a:effectLst>
            <a:outerShdw blurRad="2" dist="1319" dir="2700000">
              <a:srgbClr val="000000">
                <a:alpha val="5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1500" y="7912100"/>
            <a:ext cx="100965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1500" y="6515100"/>
            <a:ext cx="100965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1500" y="5105400"/>
            <a:ext cx="100965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1500" y="3708400"/>
            <a:ext cx="10096500" cy="12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1500" y="2311400"/>
            <a:ext cx="100965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0" y="8331200"/>
            <a:ext cx="1054100" cy="584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0" y="6934200"/>
            <a:ext cx="1054100" cy="584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0" y="5524500"/>
            <a:ext cx="1054100" cy="584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0" y="4127500"/>
            <a:ext cx="1054100" cy="584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0" y="2730500"/>
            <a:ext cx="1054100" cy="584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0" y="1371600"/>
            <a:ext cx="1054100" cy="5842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3081000" y="8432800"/>
            <a:ext cx="36957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sz="2000" dirty="0" smtClean="0">
                <a:solidFill>
                  <a:srgbClr val="000000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AWS EC2</a:t>
            </a:r>
            <a:endParaRPr lang="en-US" sz="2000" b="0" i="0" u="none" strike="noStrike" dirty="0">
              <a:solidFill>
                <a:srgbClr val="000000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445500" y="8242300"/>
            <a:ext cx="29972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289800" y="8407400"/>
            <a:ext cx="876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 spc="200">
                <a:solidFill>
                  <a:srgbClr val="F5F5F5"/>
                </a:solidFill>
                <a:latin typeface="Pretendard SemiBold"/>
              </a:rPr>
              <a:t>06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081000" y="7035800"/>
            <a:ext cx="36957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000" dirty="0" smtClean="0">
                <a:solidFill>
                  <a:srgbClr val="000000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시연</a:t>
            </a:r>
            <a:endParaRPr lang="en-US" altLang="ko-KR" sz="2000" dirty="0">
              <a:solidFill>
                <a:srgbClr val="000000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445500" y="6845300"/>
            <a:ext cx="29972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000" b="0" i="0" u="none" strike="noStrike" dirty="0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서비스</a:t>
            </a:r>
            <a:endParaRPr lang="ko-KR" sz="4000" b="0" i="0" u="none" strike="noStrike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251700" y="6997700"/>
            <a:ext cx="9525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 spc="200">
                <a:solidFill>
                  <a:srgbClr val="F5F5F5"/>
                </a:solidFill>
                <a:latin typeface="Pretendard SemiBold"/>
              </a:rPr>
              <a:t>05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081000" y="5626100"/>
            <a:ext cx="36957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07899"/>
              </a:lnSpc>
            </a:pPr>
            <a:r>
              <a:rPr lang="ko-KR" altLang="en-US" sz="2000" dirty="0" smtClean="0">
                <a:solidFill>
                  <a:srgbClr val="000000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모델링</a:t>
            </a:r>
            <a:endParaRPr lang="en-US" altLang="ko-KR" sz="2000" dirty="0">
              <a:solidFill>
                <a:srgbClr val="000000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445500" y="5448300"/>
            <a:ext cx="396875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000" b="0" i="0" u="none" strike="noStrike" dirty="0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사이즈 추천 시스템</a:t>
            </a:r>
            <a:endParaRPr lang="ko-KR" sz="4000" b="0" i="0" u="none" strike="noStrike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289800" y="5600700"/>
            <a:ext cx="8763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 spc="200">
                <a:solidFill>
                  <a:srgbClr val="F5F5F5"/>
                </a:solidFill>
                <a:latin typeface="Pretendard SemiBold"/>
              </a:rPr>
              <a:t>04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081000" y="4229100"/>
            <a:ext cx="36957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000" dirty="0" err="1" smtClean="0">
                <a:solidFill>
                  <a:srgbClr val="000000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긍부정</a:t>
            </a:r>
            <a:r>
              <a:rPr lang="ko-KR" altLang="en-US" sz="2000" dirty="0" smtClean="0">
                <a:solidFill>
                  <a:srgbClr val="000000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 분석</a:t>
            </a:r>
            <a:endParaRPr lang="en-US" sz="2000" b="0" i="0" u="none" strike="noStrike" dirty="0">
              <a:solidFill>
                <a:srgbClr val="000000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445500" y="4038600"/>
            <a:ext cx="29972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000" dirty="0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리뷰 분석</a:t>
            </a:r>
            <a:endParaRPr lang="ko-KR" sz="4000" b="0" i="0" u="none" strike="noStrike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429500" y="4203700"/>
            <a:ext cx="6096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 spc="200">
                <a:solidFill>
                  <a:srgbClr val="F5F5F5"/>
                </a:solidFill>
                <a:latin typeface="Pretendard SemiBold"/>
              </a:rPr>
              <a:t>03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081000" y="2832100"/>
            <a:ext cx="36957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000" b="0" i="0" u="none" strike="noStrike" dirty="0" smtClean="0">
                <a:solidFill>
                  <a:srgbClr val="000000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과정 설명</a:t>
            </a:r>
            <a:endParaRPr lang="en-US" sz="2000" b="0" i="0" u="none" strike="noStrike" dirty="0">
              <a:solidFill>
                <a:srgbClr val="000000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445500" y="2641600"/>
            <a:ext cx="29972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000" b="0" i="0" u="none" strike="noStrike" dirty="0" err="1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크롤링</a:t>
            </a:r>
            <a:endParaRPr lang="ko-KR" sz="4000" b="0" i="0" u="none" strike="noStrike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327900" y="27940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 spc="200">
                <a:solidFill>
                  <a:srgbClr val="F5F5F5"/>
                </a:solidFill>
                <a:latin typeface="Pretendard SemiBold"/>
              </a:rPr>
              <a:t>02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081000" y="1473200"/>
            <a:ext cx="36957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000" dirty="0" smtClean="0">
                <a:solidFill>
                  <a:srgbClr val="000000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구조 설명</a:t>
            </a:r>
            <a:endParaRPr lang="en-US" sz="2000" b="0" i="0" u="none" strike="noStrike" dirty="0">
              <a:solidFill>
                <a:srgbClr val="000000"/>
              </a:solidFill>
              <a:latin typeface="G마켓 산스 TTF Light" panose="02000000000000000000" pitchFamily="2" charset="-127"/>
              <a:ea typeface="G마켓 산스 TTF Light" panose="02000000000000000000" pitchFamily="2" charset="-127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445500" y="1346200"/>
            <a:ext cx="29972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000" b="0" i="0" u="none" strike="noStrike" dirty="0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데이터베이스</a:t>
            </a:r>
            <a:endParaRPr lang="ko-KR" sz="4000" b="0" i="0" u="none" strike="noStrike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7454900" y="1447800"/>
            <a:ext cx="546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 spc="200">
                <a:solidFill>
                  <a:srgbClr val="F5F5F5"/>
                </a:solidFill>
                <a:latin typeface="Pretendard SemiBold"/>
              </a:rPr>
              <a:t>01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46100" y="558800"/>
            <a:ext cx="55626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en-US" sz="6000" b="0" i="0" u="none" strike="noStrike" spc="100">
                <a:solidFill>
                  <a:srgbClr val="000000"/>
                </a:solidFill>
                <a:latin typeface="Pretendard Bold"/>
              </a:rPr>
              <a:t>CONTENTS</a:t>
            </a:r>
          </a:p>
        </p:txBody>
      </p:sp>
      <p:sp>
        <p:nvSpPr>
          <p:cNvPr id="39" name="TextBox 23"/>
          <p:cNvSpPr txBox="1"/>
          <p:nvPr/>
        </p:nvSpPr>
        <p:spPr>
          <a:xfrm>
            <a:off x="8445500" y="8263164"/>
            <a:ext cx="29972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000" b="0" i="0" u="none" strike="noStrike" dirty="0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배포</a:t>
            </a:r>
            <a:endParaRPr lang="ko-KR" sz="4000" b="0" i="0" u="none" strike="noStrike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4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2282" y="5114059"/>
            <a:ext cx="100965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108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03100" y="5130800"/>
            <a:ext cx="114046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219700" y="5130800"/>
            <a:ext cx="11404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9791700"/>
            <a:ext cx="18669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500" y="1765300"/>
            <a:ext cx="18923000" cy="12700"/>
          </a:xfrm>
          <a:prstGeom prst="rect">
            <a:avLst/>
          </a:prstGeom>
          <a:effectLst>
            <a:outerShdw blurRad="2" dist="141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482600"/>
            <a:ext cx="18669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824200" y="1117600"/>
            <a:ext cx="12827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68400" y="1117600"/>
            <a:ext cx="12827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76700" y="762000"/>
            <a:ext cx="723900" cy="7239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968500" y="8115300"/>
            <a:ext cx="58039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 dirty="0">
                <a:solidFill>
                  <a:srgbClr val="FFFFFF"/>
                </a:solidFill>
                <a:ea typeface="Pretendard Regular"/>
              </a:rPr>
              <a:t>회사</a:t>
            </a:r>
            <a:r>
              <a:rPr lang="en-US" sz="2400" b="0" i="0" u="none" strike="noStrike" dirty="0">
                <a:solidFill>
                  <a:srgbClr val="FFFFFF"/>
                </a:solidFill>
                <a:latin typeface="Pretendard Regular"/>
              </a:rPr>
              <a:t>, </a:t>
            </a:r>
            <a:r>
              <a:rPr lang="ko-KR" sz="2400" b="0" i="0" u="none" strike="noStrike" dirty="0">
                <a:solidFill>
                  <a:srgbClr val="FFFFFF"/>
                </a:solidFill>
                <a:ea typeface="Pretendard Regular"/>
              </a:rPr>
              <a:t>사업</a:t>
            </a:r>
            <a:r>
              <a:rPr lang="en-US" sz="2400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 dirty="0">
                <a:solidFill>
                  <a:srgbClr val="FFFFFF"/>
                </a:solidFill>
                <a:ea typeface="Pretendard Regular"/>
              </a:rPr>
              <a:t>소개</a:t>
            </a:r>
            <a:r>
              <a:rPr lang="en-US" sz="2400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 dirty="0">
                <a:solidFill>
                  <a:srgbClr val="FFFFFF"/>
                </a:solidFill>
                <a:ea typeface="Pretendard Regular"/>
              </a:rPr>
              <a:t>등</a:t>
            </a:r>
            <a:r>
              <a:rPr lang="en-US" sz="2400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 dirty="0">
                <a:solidFill>
                  <a:srgbClr val="FFFFFF"/>
                </a:solidFill>
                <a:ea typeface="Pretendard Regular"/>
              </a:rPr>
              <a:t>전체적인</a:t>
            </a:r>
            <a:r>
              <a:rPr lang="en-US" sz="2400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 dirty="0">
                <a:solidFill>
                  <a:srgbClr val="FFFFFF"/>
                </a:solidFill>
                <a:ea typeface="Pretendard Regular"/>
              </a:rPr>
              <a:t>개요를</a:t>
            </a:r>
          </a:p>
          <a:p>
            <a:pPr lvl="0" algn="ctr">
              <a:lnSpc>
                <a:spcPct val="116199"/>
              </a:lnSpc>
            </a:pPr>
            <a:r>
              <a:rPr lang="ko-KR" sz="2400" b="0" i="0" u="none" strike="noStrike" dirty="0">
                <a:solidFill>
                  <a:srgbClr val="FFFFFF"/>
                </a:solidFill>
                <a:ea typeface="Pretendard Regular"/>
              </a:rPr>
              <a:t>작성하는</a:t>
            </a:r>
            <a:r>
              <a:rPr lang="en-US" sz="2400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 dirty="0">
                <a:solidFill>
                  <a:srgbClr val="FFFFFF"/>
                </a:solidFill>
                <a:ea typeface="Pretendard Regular"/>
              </a:rPr>
              <a:t>페이지입니다</a:t>
            </a:r>
            <a:r>
              <a:rPr lang="en-US" sz="2400" b="0" i="0" u="none" strike="noStrike" dirty="0">
                <a:solidFill>
                  <a:srgbClr val="FFFFFF"/>
                </a:solidFill>
                <a:latin typeface="Pretendard Regular"/>
              </a:rPr>
              <a:t>. </a:t>
            </a:r>
            <a:r>
              <a:rPr lang="ko-KR" sz="2400" b="0" i="0" u="none" strike="noStrike" dirty="0">
                <a:solidFill>
                  <a:srgbClr val="FFFFFF"/>
                </a:solidFill>
                <a:ea typeface="Pretendard Regular"/>
              </a:rPr>
              <a:t>기본적인</a:t>
            </a:r>
            <a:r>
              <a:rPr lang="en-US" sz="2400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 dirty="0" smtClean="0">
                <a:solidFill>
                  <a:srgbClr val="FFFFFF"/>
                </a:solidFill>
                <a:ea typeface="Pretendard Regular"/>
              </a:rPr>
              <a:t>보를</a:t>
            </a:r>
            <a:endParaRPr lang="ko-KR" sz="2400" b="0" i="0" u="none" strike="noStrike" dirty="0">
              <a:solidFill>
                <a:srgbClr val="FFFFFF"/>
              </a:solidFill>
              <a:ea typeface="Pretendard Regular"/>
            </a:endParaRPr>
          </a:p>
          <a:p>
            <a:pPr lvl="0" algn="ctr">
              <a:lnSpc>
                <a:spcPct val="116199"/>
              </a:lnSpc>
            </a:pPr>
            <a:r>
              <a:rPr lang="ko-KR" sz="2400" b="0" i="0" u="none" strike="noStrike" dirty="0">
                <a:solidFill>
                  <a:srgbClr val="FFFFFF"/>
                </a:solidFill>
                <a:ea typeface="Pretendard Regular"/>
              </a:rPr>
              <a:t>공유하기에</a:t>
            </a:r>
            <a:r>
              <a:rPr lang="en-US" sz="2400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 dirty="0">
                <a:solidFill>
                  <a:srgbClr val="FFFFFF"/>
                </a:solidFill>
                <a:ea typeface="Pretendard Regular"/>
              </a:rPr>
              <a:t>적합합니다</a:t>
            </a:r>
            <a:r>
              <a:rPr lang="en-US" sz="2400" b="0" i="0" u="none" strike="noStrike" dirty="0">
                <a:solidFill>
                  <a:srgbClr val="FFFFFF"/>
                </a:solidFill>
                <a:latin typeface="Pretendard Regular"/>
              </a:rPr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27700" y="571500"/>
            <a:ext cx="68453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6000" spc="200" dirty="0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데이터베이스</a:t>
            </a:r>
            <a:endParaRPr lang="ko-KR" sz="6000" b="0" i="0" u="none" strike="noStrike" spc="2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85800" y="749300"/>
            <a:ext cx="92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200">
                <a:solidFill>
                  <a:srgbClr val="000000"/>
                </a:solidFill>
                <a:latin typeface="Pretendard Medium"/>
              </a:rPr>
              <a:t>01</a:t>
            </a: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907" y="2637776"/>
            <a:ext cx="7676885" cy="597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60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03100" y="5130800"/>
            <a:ext cx="114046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219700" y="5130800"/>
            <a:ext cx="11404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9791700"/>
            <a:ext cx="18669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500" y="1765300"/>
            <a:ext cx="18923000" cy="12700"/>
          </a:xfrm>
          <a:prstGeom prst="rect">
            <a:avLst/>
          </a:prstGeom>
          <a:effectLst>
            <a:outerShdw blurRad="2" dist="141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482600"/>
            <a:ext cx="18669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824200" y="1117600"/>
            <a:ext cx="12827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68400" y="1117600"/>
            <a:ext cx="12827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76700" y="762000"/>
            <a:ext cx="723900" cy="7239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5727700" y="571500"/>
            <a:ext cx="68453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6000" spc="200" dirty="0" err="1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크롤링</a:t>
            </a:r>
            <a:endParaRPr lang="ko-KR" sz="6000" b="0" i="0" u="none" strike="noStrike" spc="2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85800" y="749300"/>
            <a:ext cx="92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200" dirty="0" smtClean="0">
                <a:solidFill>
                  <a:srgbClr val="000000"/>
                </a:solidFill>
                <a:latin typeface="Pretendard Medium"/>
              </a:rPr>
              <a:t>02</a:t>
            </a:r>
            <a:endParaRPr lang="en-US" sz="4000" b="0" i="0" u="none" strike="noStrike" spc="200" dirty="0">
              <a:solidFill>
                <a:srgbClr val="000000"/>
              </a:solidFill>
              <a:latin typeface="Pretendard Medium"/>
            </a:endParaRP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2057400"/>
            <a:ext cx="6400800" cy="7063321"/>
          </a:xfrm>
          <a:prstGeom prst="rect">
            <a:avLst/>
          </a:prstGeom>
        </p:spPr>
      </p:pic>
      <p:grpSp>
        <p:nvGrpSpPr>
          <p:cNvPr id="31" name="그룹 30"/>
          <p:cNvGrpSpPr/>
          <p:nvPr/>
        </p:nvGrpSpPr>
        <p:grpSpPr>
          <a:xfrm>
            <a:off x="1632494" y="2123641"/>
            <a:ext cx="4902200" cy="7332569"/>
            <a:chOff x="3881393" y="521088"/>
            <a:chExt cx="3501272" cy="6037595"/>
          </a:xfrm>
        </p:grpSpPr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81393" y="574368"/>
              <a:ext cx="3501272" cy="5984315"/>
            </a:xfrm>
            <a:prstGeom prst="rect">
              <a:avLst/>
            </a:prstGeom>
          </p:spPr>
        </p:pic>
        <p:sp>
          <p:nvSpPr>
            <p:cNvPr id="33" name="직사각형 32"/>
            <p:cNvSpPr/>
            <p:nvPr/>
          </p:nvSpPr>
          <p:spPr>
            <a:xfrm>
              <a:off x="3979900" y="712303"/>
              <a:ext cx="249200" cy="2300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3901791" y="521088"/>
              <a:ext cx="3464288" cy="37715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4019912" y="5009049"/>
              <a:ext cx="1263288" cy="2995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4006370" y="5749099"/>
              <a:ext cx="1510278" cy="37042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4019911" y="5363583"/>
              <a:ext cx="2241189" cy="35494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39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659564"/>
              </p:ext>
            </p:extLst>
          </p:nvPr>
        </p:nvGraphicFramePr>
        <p:xfrm>
          <a:off x="8576508" y="3016250"/>
          <a:ext cx="8856439" cy="5273900"/>
        </p:xfrm>
        <a:graphic>
          <a:graphicData uri="http://schemas.openxmlformats.org/drawingml/2006/table">
            <a:tbl>
              <a:tblPr/>
              <a:tblGrid>
                <a:gridCol w="1323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3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7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3613">
                  <a:extLst>
                    <a:ext uri="{9D8B030D-6E8A-4147-A177-3AD203B41FA5}">
                      <a16:colId xmlns:a16="http://schemas.microsoft.com/office/drawing/2014/main" val="3560746032"/>
                    </a:ext>
                  </a:extLst>
                </a:gridCol>
                <a:gridCol w="1323613">
                  <a:extLst>
                    <a:ext uri="{9D8B030D-6E8A-4147-A177-3AD203B41FA5}">
                      <a16:colId xmlns:a16="http://schemas.microsoft.com/office/drawing/2014/main" val="1987485082"/>
                    </a:ext>
                  </a:extLst>
                </a:gridCol>
              </a:tblGrid>
              <a:tr h="66293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 dirty="0" smtClean="0">
                          <a:solidFill>
                            <a:srgbClr val="FFFFF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index</a:t>
                      </a:r>
                      <a:endParaRPr lang="en-US" sz="11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Item_id</a:t>
                      </a:r>
                      <a:endParaRPr lang="en-US" altLang="ko-KR" sz="1800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800" smtClean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Name</a:t>
                      </a:r>
                      <a:endParaRPr lang="en-US" sz="180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smtClean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Price</a:t>
                      </a:r>
                      <a:endParaRPr lang="en-US" altLang="ko-KR" sz="1800" dirty="0" smtClean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800" dirty="0" smtClean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Ranking</a:t>
                      </a:r>
                      <a:endParaRPr lang="en-US" sz="180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800" smtClean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Brand</a:t>
                      </a:r>
                      <a:endParaRPr lang="en-US" sz="180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800" dirty="0" err="1" smtClean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Img_url</a:t>
                      </a:r>
                      <a:endParaRPr lang="en-US" sz="180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848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8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endParaRPr lang="en-US" sz="1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4326536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</a:t>
                      </a:r>
                      <a:r>
                        <a:rPr lang="ko-KR" altLang="en-US" sz="1500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기모선택</a:t>
                      </a:r>
                      <a:r>
                        <a:rPr lang="en-US" altLang="ko-KR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 VLAD </a:t>
                      </a:r>
                      <a:r>
                        <a:rPr lang="ko-KR" altLang="en-US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컷오프 </a:t>
                      </a:r>
                      <a:r>
                        <a:rPr lang="ko-KR" altLang="en-US" sz="1500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아플리케</a:t>
                      </a:r>
                      <a:r>
                        <a:rPr lang="ko-KR" altLang="en-US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후드 티셔츠</a:t>
                      </a:r>
                      <a:r>
                        <a:rPr lang="en-US" altLang="ko-KR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_</a:t>
                      </a:r>
                      <a:r>
                        <a:rPr lang="ko-KR" altLang="en-US" sz="1500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차콜</a:t>
                      </a:r>
                      <a:endParaRPr lang="en-US" sz="15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8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39,900</a:t>
                      </a:r>
                      <a:r>
                        <a:rPr lang="ko-KR" altLang="en-US" sz="18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</a:t>
                      </a:r>
                      <a:endParaRPr lang="en-US" sz="1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8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endParaRPr lang="en-US" sz="1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800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디미트리블랙</a:t>
                      </a:r>
                      <a:endParaRPr lang="en-US" sz="1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https://image.msscdn.net/thumbnails/images/</a:t>
                      </a:r>
                      <a:r>
                        <a:rPr lang="en-US" sz="1500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goods_im</a:t>
                      </a:r>
                      <a:r>
                        <a:rPr lang="en-US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.......</a:t>
                      </a:r>
                      <a:endParaRPr lang="en-US" sz="15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1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8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endParaRPr lang="en-US" sz="1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8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4394773</a:t>
                      </a:r>
                      <a:endParaRPr lang="en-US" sz="1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TAG HOODIE - ASH</a:t>
                      </a:r>
                      <a:endParaRPr lang="en-US" sz="15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8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89,000</a:t>
                      </a:r>
                      <a:r>
                        <a:rPr lang="ko-KR" altLang="en-US" sz="18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</a:t>
                      </a:r>
                      <a:endParaRPr lang="en-US" sz="1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8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endParaRPr lang="en-US" sz="1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800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브라운브레스</a:t>
                      </a:r>
                      <a:endParaRPr lang="en-US" sz="1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https://image.msscdn.net/thumbnails/images/</a:t>
                      </a:r>
                      <a:r>
                        <a:rPr lang="en-US" altLang="ko-KR" sz="1500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goods_im</a:t>
                      </a:r>
                      <a:r>
                        <a:rPr lang="en-US" altLang="ko-KR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.......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5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136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8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endParaRPr lang="en-US" sz="1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8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…</a:t>
                      </a:r>
                      <a:endParaRPr lang="en-US" sz="1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8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…</a:t>
                      </a:r>
                      <a:endParaRPr lang="en-US" sz="1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8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…</a:t>
                      </a:r>
                      <a:endParaRPr lang="en-US" sz="1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8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…</a:t>
                      </a:r>
                      <a:endParaRPr lang="en-US" sz="1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8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…</a:t>
                      </a:r>
                      <a:endParaRPr lang="en-US" sz="1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8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…</a:t>
                      </a:r>
                      <a:endParaRPr lang="en-US" sz="1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011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8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</a:t>
                      </a:r>
                      <a:endParaRPr lang="en-US" sz="1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8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4272965</a:t>
                      </a:r>
                      <a:endParaRPr lang="en-US" sz="1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</a:t>
                      </a:r>
                      <a:r>
                        <a:rPr lang="ko-KR" altLang="en-US" sz="1500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논기모</a:t>
                      </a:r>
                      <a:r>
                        <a:rPr lang="ko-KR" altLang="en-US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OR </a:t>
                      </a:r>
                      <a:r>
                        <a:rPr lang="ko-KR" altLang="en-US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기모</a:t>
                      </a:r>
                      <a:r>
                        <a:rPr lang="en-US" altLang="ko-KR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 </a:t>
                      </a:r>
                      <a:r>
                        <a:rPr lang="ko-KR" altLang="en-US" sz="1500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오버핏</a:t>
                      </a:r>
                      <a:r>
                        <a:rPr lang="ko-KR" altLang="en-US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500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시그니처</a:t>
                      </a:r>
                      <a:r>
                        <a:rPr lang="ko-KR" altLang="en-US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LMS </a:t>
                      </a:r>
                      <a:r>
                        <a:rPr lang="ko-KR" altLang="en-US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패치 후디 </a:t>
                      </a:r>
                      <a:r>
                        <a:rPr lang="en-US" altLang="ko-KR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</a:t>
                      </a:r>
                      <a:r>
                        <a:rPr lang="ko-KR" altLang="en-US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네이비</a:t>
                      </a:r>
                      <a:r>
                        <a:rPr lang="en-US" altLang="ko-KR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</a:t>
                      </a:r>
                      <a:endParaRPr lang="en-US" sz="15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8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34,800</a:t>
                      </a:r>
                      <a:r>
                        <a:rPr lang="ko-KR" altLang="en-US" sz="18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</a:t>
                      </a:r>
                      <a:endParaRPr lang="en-US" sz="1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8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</a:t>
                      </a:r>
                      <a:endParaRPr lang="en-US" sz="1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8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리메인세컨드</a:t>
                      </a:r>
                      <a:endParaRPr lang="en-US" sz="18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https://image.msscdn.net/thumbnails/images/</a:t>
                      </a:r>
                      <a:r>
                        <a:rPr lang="en-US" altLang="ko-KR" sz="1500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goods_im</a:t>
                      </a:r>
                      <a:r>
                        <a:rPr lang="en-US" altLang="ko-KR" sz="15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.......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5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5941003" y="9312671"/>
            <a:ext cx="774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/>
              <a:t>URL = https://www.musinsa.com/main/musinsa/ranking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8350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03100" y="5130800"/>
            <a:ext cx="114046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219700" y="5130800"/>
            <a:ext cx="11404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9791700"/>
            <a:ext cx="18669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500" y="1765300"/>
            <a:ext cx="18923000" cy="12700"/>
          </a:xfrm>
          <a:prstGeom prst="rect">
            <a:avLst/>
          </a:prstGeom>
          <a:effectLst>
            <a:outerShdw blurRad="2" dist="141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482600"/>
            <a:ext cx="18669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824200" y="1117600"/>
            <a:ext cx="12827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68400" y="1117600"/>
            <a:ext cx="12827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76700" y="762000"/>
            <a:ext cx="723900" cy="7239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5727700" y="571500"/>
            <a:ext cx="68453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6000" spc="200" dirty="0" err="1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크롤링</a:t>
            </a:r>
            <a:endParaRPr lang="ko-KR" sz="6000" b="0" i="0" u="none" strike="noStrike" spc="2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85800" y="749300"/>
            <a:ext cx="92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200" dirty="0" smtClean="0">
                <a:solidFill>
                  <a:srgbClr val="000000"/>
                </a:solidFill>
                <a:latin typeface="Pretendard Medium"/>
              </a:rPr>
              <a:t>03</a:t>
            </a:r>
            <a:endParaRPr lang="en-US" sz="4000" b="0" i="0" u="none" strike="noStrike" spc="200" dirty="0">
              <a:solidFill>
                <a:srgbClr val="000000"/>
              </a:solidFill>
              <a:latin typeface="Pretendard Medium"/>
            </a:endParaRPr>
          </a:p>
        </p:txBody>
      </p:sp>
      <p:graphicFrame>
        <p:nvGraphicFramePr>
          <p:cNvPr id="39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000395"/>
              </p:ext>
            </p:extLst>
          </p:nvPr>
        </p:nvGraphicFramePr>
        <p:xfrm>
          <a:off x="8576506" y="3016250"/>
          <a:ext cx="7626716" cy="4952999"/>
        </p:xfrm>
        <a:graphic>
          <a:graphicData uri="http://schemas.openxmlformats.org/drawingml/2006/table">
            <a:tbl>
              <a:tblPr/>
              <a:tblGrid>
                <a:gridCol w="1906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6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6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6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3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 dirty="0" smtClean="0">
                          <a:solidFill>
                            <a:srgbClr val="FFFFF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index</a:t>
                      </a:r>
                      <a:endParaRPr lang="en-US" sz="11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Item_id</a:t>
                      </a:r>
                      <a:endParaRPr lang="en-US" altLang="ko-KR" sz="1800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800" dirty="0" smtClean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gender</a:t>
                      </a:r>
                      <a:endParaRPr lang="en-US" sz="180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rating</a:t>
                      </a: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848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4326536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남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4.9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1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3394773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여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4.8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136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…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…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…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011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5272965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공동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4.6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1" name="그룹 20"/>
          <p:cNvGrpSpPr/>
          <p:nvPr/>
        </p:nvGrpSpPr>
        <p:grpSpPr>
          <a:xfrm>
            <a:off x="1282700" y="5573680"/>
            <a:ext cx="6893912" cy="2395569"/>
            <a:chOff x="6262254" y="2317746"/>
            <a:chExt cx="6893912" cy="2395569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62254" y="2317746"/>
              <a:ext cx="6893912" cy="2395569"/>
            </a:xfrm>
            <a:prstGeom prst="rect">
              <a:avLst/>
            </a:prstGeom>
          </p:spPr>
        </p:pic>
        <p:sp>
          <p:nvSpPr>
            <p:cNvPr id="23" name="직사각형 22"/>
            <p:cNvSpPr/>
            <p:nvPr/>
          </p:nvSpPr>
          <p:spPr>
            <a:xfrm>
              <a:off x="6535175" y="3302902"/>
              <a:ext cx="2469125" cy="4252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1366520" y="2743079"/>
            <a:ext cx="5214265" cy="2830601"/>
            <a:chOff x="1411124" y="2100231"/>
            <a:chExt cx="5214265" cy="2830601"/>
          </a:xfrm>
        </p:grpSpPr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11124" y="2100231"/>
              <a:ext cx="5214265" cy="2830601"/>
            </a:xfrm>
            <a:prstGeom prst="rect">
              <a:avLst/>
            </a:prstGeom>
          </p:spPr>
        </p:pic>
        <p:sp>
          <p:nvSpPr>
            <p:cNvPr id="26" name="직사각형 25"/>
            <p:cNvSpPr/>
            <p:nvPr/>
          </p:nvSpPr>
          <p:spPr>
            <a:xfrm>
              <a:off x="1682423" y="4174434"/>
              <a:ext cx="908377" cy="53888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5941003" y="9312671"/>
            <a:ext cx="774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/>
              <a:t>url</a:t>
            </a:r>
            <a:r>
              <a:rPr lang="en-US" altLang="ko-KR" sz="2400" dirty="0"/>
              <a:t> = https://www.musinsa.com/products/</a:t>
            </a:r>
            <a:r>
              <a:rPr lang="en-US" altLang="ko-KR" sz="2400" dirty="0">
                <a:solidFill>
                  <a:srgbClr val="FF0000"/>
                </a:solidFill>
              </a:rPr>
              <a:t>{item_id}</a:t>
            </a:r>
          </a:p>
        </p:txBody>
      </p:sp>
    </p:spTree>
    <p:extLst>
      <p:ext uri="{BB962C8B-B14F-4D97-AF65-F5344CB8AC3E}">
        <p14:creationId xmlns:p14="http://schemas.microsoft.com/office/powerpoint/2010/main" val="132651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03100" y="5130800"/>
            <a:ext cx="114046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219700" y="5130800"/>
            <a:ext cx="11404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9791700"/>
            <a:ext cx="18669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500" y="1765300"/>
            <a:ext cx="18923000" cy="12700"/>
          </a:xfrm>
          <a:prstGeom prst="rect">
            <a:avLst/>
          </a:prstGeom>
          <a:effectLst>
            <a:outerShdw blurRad="2" dist="141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482600"/>
            <a:ext cx="18669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824200" y="1117600"/>
            <a:ext cx="12827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68400" y="1117600"/>
            <a:ext cx="12827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76700" y="762000"/>
            <a:ext cx="723900" cy="7239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5727700" y="571500"/>
            <a:ext cx="68453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6000" spc="200" dirty="0" err="1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크롤링</a:t>
            </a:r>
            <a:endParaRPr lang="ko-KR" sz="6000" b="0" i="0" u="none" strike="noStrike" spc="2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85800" y="749300"/>
            <a:ext cx="92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200" dirty="0" smtClean="0">
                <a:solidFill>
                  <a:srgbClr val="000000"/>
                </a:solidFill>
                <a:latin typeface="Pretendard Medium"/>
              </a:rPr>
              <a:t>04</a:t>
            </a:r>
            <a:endParaRPr lang="en-US" sz="4000" b="0" i="0" u="none" strike="noStrike" spc="200" dirty="0">
              <a:solidFill>
                <a:srgbClr val="000000"/>
              </a:solidFill>
              <a:latin typeface="Pretendard Medium"/>
            </a:endParaRPr>
          </a:p>
        </p:txBody>
      </p:sp>
      <p:graphicFrame>
        <p:nvGraphicFramePr>
          <p:cNvPr id="39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448002"/>
              </p:ext>
            </p:extLst>
          </p:nvPr>
        </p:nvGraphicFramePr>
        <p:xfrm>
          <a:off x="8576506" y="3016250"/>
          <a:ext cx="8555792" cy="4952999"/>
        </p:xfrm>
        <a:graphic>
          <a:graphicData uri="http://schemas.openxmlformats.org/drawingml/2006/table">
            <a:tbl>
              <a:tblPr/>
              <a:tblGrid>
                <a:gridCol w="1222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2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2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2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2256">
                  <a:extLst>
                    <a:ext uri="{9D8B030D-6E8A-4147-A177-3AD203B41FA5}">
                      <a16:colId xmlns:a16="http://schemas.microsoft.com/office/drawing/2014/main" val="252462802"/>
                    </a:ext>
                  </a:extLst>
                </a:gridCol>
                <a:gridCol w="1222256">
                  <a:extLst>
                    <a:ext uri="{9D8B030D-6E8A-4147-A177-3AD203B41FA5}">
                      <a16:colId xmlns:a16="http://schemas.microsoft.com/office/drawing/2014/main" val="2787230656"/>
                    </a:ext>
                  </a:extLst>
                </a:gridCol>
                <a:gridCol w="1222256">
                  <a:extLst>
                    <a:ext uri="{9D8B030D-6E8A-4147-A177-3AD203B41FA5}">
                      <a16:colId xmlns:a16="http://schemas.microsoft.com/office/drawing/2014/main" val="451826814"/>
                    </a:ext>
                  </a:extLst>
                </a:gridCol>
              </a:tblGrid>
              <a:tr h="66293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b="0" i="0" u="none" strike="noStrike" dirty="0" smtClean="0">
                          <a:solidFill>
                            <a:srgbClr val="FFFFF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Index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 err="1" smtClean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item_id</a:t>
                      </a:r>
                      <a:endParaRPr lang="en-US" altLang="ko-KR" sz="2400" dirty="0" smtClean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Gender</a:t>
                      </a:r>
                      <a:endParaRPr lang="en-US" sz="2400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 smtClean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Height</a:t>
                      </a: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 smtClean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Weight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 smtClean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Size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 smtClean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Review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848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4326536</a:t>
                      </a: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남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172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65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옷이 </a:t>
                      </a:r>
                      <a:r>
                        <a:rPr lang="ko-KR" altLang="en-US" sz="2400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이뻐요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1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2400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4326536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여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160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52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소매가 짧아요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136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…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…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…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…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…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…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011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5272965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남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72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심플해요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5941003" y="9312671"/>
            <a:ext cx="774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/>
              <a:t>url</a:t>
            </a:r>
            <a:r>
              <a:rPr lang="en-US" altLang="ko-KR" sz="2400" dirty="0"/>
              <a:t> = https://www.musinsa.com/products/</a:t>
            </a:r>
            <a:r>
              <a:rPr lang="en-US" altLang="ko-KR" sz="2400" dirty="0">
                <a:solidFill>
                  <a:srgbClr val="FF0000"/>
                </a:solidFill>
              </a:rPr>
              <a:t>{item_id}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1604818" y="2307593"/>
            <a:ext cx="5215704" cy="6865378"/>
            <a:chOff x="4195529" y="1134712"/>
            <a:chExt cx="3703872" cy="5561084"/>
          </a:xfrm>
        </p:grpSpPr>
        <p:pic>
          <p:nvPicPr>
            <p:cNvPr id="27" name="그림 2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95529" y="1134712"/>
              <a:ext cx="3703872" cy="5561084"/>
            </a:xfrm>
            <a:prstGeom prst="rect">
              <a:avLst/>
            </a:prstGeom>
          </p:spPr>
        </p:pic>
        <p:sp>
          <p:nvSpPr>
            <p:cNvPr id="30" name="직사각형 29"/>
            <p:cNvSpPr/>
            <p:nvPr/>
          </p:nvSpPr>
          <p:spPr>
            <a:xfrm>
              <a:off x="4195529" y="6121399"/>
              <a:ext cx="2840271" cy="27940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4627329" y="1308099"/>
              <a:ext cx="2408471" cy="26670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3069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03100" y="5130800"/>
            <a:ext cx="114046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219700" y="5130800"/>
            <a:ext cx="11404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9791700"/>
            <a:ext cx="18669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500" y="1765300"/>
            <a:ext cx="18923000" cy="12700"/>
          </a:xfrm>
          <a:prstGeom prst="rect">
            <a:avLst/>
          </a:prstGeom>
          <a:effectLst>
            <a:outerShdw blurRad="2" dist="141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482600"/>
            <a:ext cx="18669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824200" y="1117600"/>
            <a:ext cx="12827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68400" y="1117600"/>
            <a:ext cx="12827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1193800" y="6705600"/>
            <a:ext cx="159131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77900" y="6375400"/>
            <a:ext cx="2590800" cy="647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20800" y="4318000"/>
            <a:ext cx="1905000" cy="1905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28600" y="6553200"/>
            <a:ext cx="190500" cy="292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1700" y="6375400"/>
            <a:ext cx="2590800" cy="647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4600" y="4318000"/>
            <a:ext cx="1905000" cy="1905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5100" y="6553200"/>
            <a:ext cx="190500" cy="292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0" y="6375400"/>
            <a:ext cx="2590800" cy="647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4318000"/>
            <a:ext cx="1905000" cy="1905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8900" y="6553200"/>
            <a:ext cx="190500" cy="2921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9300" y="6375400"/>
            <a:ext cx="2590800" cy="647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62200" y="4318000"/>
            <a:ext cx="1905000" cy="1905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5800" y="2705100"/>
            <a:ext cx="9296400" cy="1016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776700" y="762000"/>
            <a:ext cx="723900" cy="7239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3792200" y="7353300"/>
            <a:ext cx="2362200" cy="1320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ctr">
              <a:lnSpc>
                <a:spcPct val="120350"/>
              </a:lnSpc>
              <a:buFont typeface="Arial" panose="020B0604020202020204" pitchFamily="34" charset="0"/>
              <a:buChar char="•"/>
            </a:pPr>
            <a:r>
              <a:rPr lang="ko-KR" altLang="en-US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리뷰 분석</a:t>
            </a:r>
            <a:endParaRPr lang="en-US" altLang="ko-KR" sz="2400" b="0" i="0" u="none" strike="noStrike" dirty="0" smtClean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3931900" y="6464300"/>
            <a:ext cx="20828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spc="200" dirty="0" err="1" smtClean="0">
                <a:solidFill>
                  <a:srgbClr val="F5F5F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긍부정</a:t>
            </a:r>
            <a:r>
              <a:rPr lang="ko-KR" altLang="en-US" sz="2600" b="0" i="0" u="none" strike="noStrike" spc="200" dirty="0" smtClean="0">
                <a:solidFill>
                  <a:srgbClr val="F5F5F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분석</a:t>
            </a:r>
            <a:endParaRPr lang="en-US" sz="2600" b="0" i="0" u="none" strike="noStrike" spc="200" dirty="0">
              <a:solidFill>
                <a:srgbClr val="F5F5F5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906000" y="7353300"/>
            <a:ext cx="2362200" cy="13208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342900" lvl="0" indent="-342900" algn="ctr">
              <a:lnSpc>
                <a:spcPct val="120350"/>
              </a:lnSpc>
              <a:buFont typeface="Arial" panose="020B0604020202020204" pitchFamily="34" charset="0"/>
              <a:buChar char="•"/>
              <a:defRPr sz="2400" b="0" i="0" u="none" strike="noStrike">
                <a:solidFill>
                  <a:srgbClr val="000000"/>
                </a:solidFill>
                <a:latin typeface="Pretendard Regular"/>
              </a:defRPr>
            </a:lvl1pPr>
          </a:lstStyle>
          <a:p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LSTM</a:t>
            </a:r>
            <a:endPara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045700" y="6464300"/>
            <a:ext cx="20828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spc="200" dirty="0" smtClean="0">
                <a:solidFill>
                  <a:srgbClr val="F5F5F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모델 학습</a:t>
            </a:r>
            <a:endParaRPr lang="en-US" sz="2600" b="0" i="0" u="none" strike="noStrike" spc="200" dirty="0">
              <a:solidFill>
                <a:srgbClr val="F5F5F5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019800" y="7353300"/>
            <a:ext cx="2362200" cy="13208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342900" lvl="0" indent="-342900" algn="ctr">
              <a:lnSpc>
                <a:spcPct val="120350"/>
              </a:lnSpc>
              <a:buFont typeface="Arial" panose="020B0604020202020204" pitchFamily="34" charset="0"/>
              <a:buChar char="•"/>
              <a:defRPr sz="2400" b="0" i="0" u="none" strike="noStrike">
                <a:solidFill>
                  <a:srgbClr val="000000"/>
                </a:solidFill>
                <a:latin typeface="Pretendard Regular"/>
              </a:defRPr>
            </a:lvl1pPr>
          </a:lstStyle>
          <a:p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단어 </a:t>
            </a:r>
            <a:r>
              <a:rPr lang="ko-KR" altLang="en-US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빈도수</a:t>
            </a:r>
            <a:endParaRPr 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916710" y="6464300"/>
            <a:ext cx="255905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spc="200" dirty="0" smtClean="0">
                <a:solidFill>
                  <a:srgbClr val="F5F5F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정수 </a:t>
            </a:r>
            <a:r>
              <a:rPr lang="ko-KR" altLang="en-US" sz="2600" b="0" i="0" u="none" strike="noStrike" spc="200" dirty="0" err="1" smtClean="0">
                <a:solidFill>
                  <a:srgbClr val="F5F5F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인코딩</a:t>
            </a:r>
            <a:endParaRPr lang="en-US" sz="2600" b="0" i="0" u="none" strike="noStrike" spc="200" dirty="0">
              <a:solidFill>
                <a:srgbClr val="F5F5F5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133600" y="7353300"/>
            <a:ext cx="2362200" cy="1320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ctr">
              <a:lnSpc>
                <a:spcPct val="120350"/>
              </a:lnSpc>
              <a:buFont typeface="Arial" panose="020B0604020202020204" pitchFamily="34" charset="0"/>
              <a:buChar char="•"/>
            </a:pPr>
            <a:r>
              <a:rPr lang="ko-KR" altLang="en-US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정규 표현식</a:t>
            </a:r>
            <a:endParaRPr lang="en-US" altLang="ko-KR" sz="2400" b="0" i="0" u="none" strike="noStrike" dirty="0" smtClean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342900" lvl="0" indent="-342900" algn="ctr">
              <a:lnSpc>
                <a:spcPct val="120350"/>
              </a:lnSpc>
              <a:buFont typeface="Arial" panose="020B0604020202020204" pitchFamily="34" charset="0"/>
              <a:buChar char="•"/>
            </a:pPr>
            <a:r>
              <a:rPr lang="ko-KR" altLang="en-US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자연어 처리</a:t>
            </a:r>
            <a:endParaRPr lang="en-US" sz="2400" b="0" i="0" u="none" strike="noStrike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273300" y="6464300"/>
            <a:ext cx="20828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spc="200" dirty="0" smtClean="0">
                <a:solidFill>
                  <a:srgbClr val="F5F5F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전처리</a:t>
            </a:r>
            <a:endParaRPr lang="en-US" sz="2600" b="0" i="0" u="none" strike="noStrike" spc="200" dirty="0">
              <a:solidFill>
                <a:srgbClr val="F5F5F5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766015" y="2895600"/>
            <a:ext cx="87757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400" b="0" i="0" u="none" strike="noStrike" dirty="0" smtClean="0">
                <a:solidFill>
                  <a:srgbClr val="F5F5F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제품에 대한 소비자들의 반응 분석</a:t>
            </a:r>
            <a:endParaRPr lang="en-US" sz="3400" b="0" i="0" u="none" strike="noStrike" dirty="0">
              <a:solidFill>
                <a:srgbClr val="F5F5F5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3302000" y="571500"/>
            <a:ext cx="116840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6000" b="0" i="0" u="none" strike="noStrike" spc="200" dirty="0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리뷰 분석</a:t>
            </a:r>
            <a:endParaRPr lang="ko-KR" sz="6000" b="0" i="0" u="none" strike="noStrike" spc="2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685800" y="749300"/>
            <a:ext cx="92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200" dirty="0" smtClean="0">
                <a:solidFill>
                  <a:srgbClr val="000000"/>
                </a:solidFill>
                <a:latin typeface="Pretendard Medium"/>
              </a:rPr>
              <a:t>05</a:t>
            </a:r>
            <a:endParaRPr lang="en-US" sz="4000" b="0" i="0" u="none" strike="noStrike" spc="200" dirty="0">
              <a:solidFill>
                <a:srgbClr val="000000"/>
              </a:solidFill>
              <a:latin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66095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03100" y="5130800"/>
            <a:ext cx="114046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219700" y="5130800"/>
            <a:ext cx="11404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9791700"/>
            <a:ext cx="18669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500" y="1765300"/>
            <a:ext cx="18923000" cy="12700"/>
          </a:xfrm>
          <a:prstGeom prst="rect">
            <a:avLst/>
          </a:prstGeom>
          <a:effectLst>
            <a:outerShdw blurRad="2" dist="141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482600"/>
            <a:ext cx="18669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824200" y="1117600"/>
            <a:ext cx="12827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68400" y="1117600"/>
            <a:ext cx="1282700" cy="12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0119" y="3413553"/>
            <a:ext cx="2235200" cy="635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2549" y="2307818"/>
            <a:ext cx="2235200" cy="635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76700" y="762000"/>
            <a:ext cx="723900" cy="7239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3256548" y="7718656"/>
            <a:ext cx="44069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en-US" altLang="ko-KR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‘…‘ , ‘!‘ </a:t>
            </a:r>
            <a:r>
              <a:rPr lang="ko-KR" altLang="en-US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와 같은 특수문자 존재</a:t>
            </a:r>
            <a:endParaRPr lang="en-US" sz="2400" b="0" i="0" u="none" strike="noStrike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238219" y="3502453"/>
            <a:ext cx="21717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 smtClean="0">
                <a:solidFill>
                  <a:srgbClr val="F5F5F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전처리 전</a:t>
            </a:r>
            <a:endParaRPr lang="ko-KR" sz="2600" b="0" i="0" u="none" strike="noStrike" dirty="0">
              <a:solidFill>
                <a:srgbClr val="F5F5F5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110649" y="2384018"/>
            <a:ext cx="21717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 smtClean="0">
                <a:solidFill>
                  <a:srgbClr val="F5F5F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정규 표현식</a:t>
            </a:r>
            <a:endParaRPr lang="ko-KR" sz="2600" b="0" i="0" u="none" strike="noStrike" dirty="0">
              <a:solidFill>
                <a:srgbClr val="F5F5F5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151961" y="645273"/>
            <a:ext cx="4085054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6000" b="0" i="0" u="none" strike="noStrike" spc="200" dirty="0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리뷰 분석</a:t>
            </a:r>
            <a:endParaRPr lang="ko-KR" sz="6000" b="0" i="0" u="none" strike="noStrike" spc="2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85800" y="749300"/>
            <a:ext cx="92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200" dirty="0" smtClean="0">
                <a:solidFill>
                  <a:srgbClr val="000000"/>
                </a:solidFill>
                <a:latin typeface="Pretendard Medium"/>
              </a:rPr>
              <a:t>0</a:t>
            </a:r>
            <a:r>
              <a:rPr lang="en-US" sz="4000" spc="200" dirty="0">
                <a:solidFill>
                  <a:srgbClr val="000000"/>
                </a:solidFill>
                <a:latin typeface="Pretendard Medium"/>
              </a:rPr>
              <a:t>6</a:t>
            </a:r>
            <a:endParaRPr lang="en-US" sz="4000" b="0" i="0" u="none" strike="noStrike" spc="200" dirty="0">
              <a:solidFill>
                <a:srgbClr val="000000"/>
              </a:solidFill>
              <a:latin typeface="Pretendard Medium"/>
            </a:endParaRP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587" y="4841395"/>
            <a:ext cx="6951095" cy="2255231"/>
          </a:xfrm>
          <a:prstGeom prst="rect">
            <a:avLst/>
          </a:prstGeom>
        </p:spPr>
      </p:pic>
      <p:pic>
        <p:nvPicPr>
          <p:cNvPr id="31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302" y="3419903"/>
            <a:ext cx="2235200" cy="635000"/>
          </a:xfrm>
          <a:prstGeom prst="rect">
            <a:avLst/>
          </a:prstGeom>
        </p:spPr>
      </p:pic>
      <p:sp>
        <p:nvSpPr>
          <p:cNvPr id="32" name="TextBox 24"/>
          <p:cNvSpPr txBox="1"/>
          <p:nvPr/>
        </p:nvSpPr>
        <p:spPr>
          <a:xfrm>
            <a:off x="12230402" y="3508803"/>
            <a:ext cx="21717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 smtClean="0">
                <a:solidFill>
                  <a:srgbClr val="F5F5F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전처리 후</a:t>
            </a:r>
            <a:endParaRPr lang="ko-KR" sz="2600" b="0" i="0" u="none" strike="noStrike" dirty="0">
              <a:solidFill>
                <a:srgbClr val="F5F5F5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33040" y="4848726"/>
            <a:ext cx="6906876" cy="2247900"/>
          </a:xfrm>
          <a:prstGeom prst="rect">
            <a:avLst/>
          </a:prstGeom>
        </p:spPr>
      </p:pic>
      <p:sp>
        <p:nvSpPr>
          <p:cNvPr id="34" name="TextBox 17"/>
          <p:cNvSpPr txBox="1"/>
          <p:nvPr/>
        </p:nvSpPr>
        <p:spPr>
          <a:xfrm>
            <a:off x="11071202" y="7718656"/>
            <a:ext cx="44069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400" b="0" i="0" u="none" strike="noStrike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특수문자가 제거됨</a:t>
            </a:r>
            <a:endParaRPr lang="en-US" sz="2400" b="0" i="0" u="none" strike="noStrike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9573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03100" y="5130800"/>
            <a:ext cx="114046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219700" y="5130800"/>
            <a:ext cx="11404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9791700"/>
            <a:ext cx="18669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500" y="1765300"/>
            <a:ext cx="18923000" cy="12700"/>
          </a:xfrm>
          <a:prstGeom prst="rect">
            <a:avLst/>
          </a:prstGeom>
          <a:effectLst>
            <a:outerShdw blurRad="2" dist="141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482600"/>
            <a:ext cx="18669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824200" y="1117600"/>
            <a:ext cx="12827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68400" y="1117600"/>
            <a:ext cx="12827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3873500"/>
            <a:ext cx="6667500" cy="5143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5200" y="7518400"/>
            <a:ext cx="57150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5200" y="6464300"/>
            <a:ext cx="57150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45900" y="4445000"/>
            <a:ext cx="2120900" cy="800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5200" y="3873500"/>
            <a:ext cx="6667500" cy="5143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7800" y="7518400"/>
            <a:ext cx="571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7800" y="6464300"/>
            <a:ext cx="57150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8500" y="4445000"/>
            <a:ext cx="2120900" cy="800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76700" y="762000"/>
            <a:ext cx="723900" cy="7239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855200" y="7823200"/>
            <a:ext cx="59182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4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길이 감다 좋다 소재 도 </a:t>
            </a:r>
            <a:r>
              <a:rPr lang="ko-KR" altLang="en-US" sz="2400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좋다</a:t>
            </a:r>
            <a:endParaRPr lang="en-US" sz="2400" b="0" i="0" u="none" strike="noStrike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855200" y="6781800"/>
            <a:ext cx="59182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4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생각 보다 질 은 좋다 뜸 근데 넘다 기다 바로 건조 기행 </a:t>
            </a:r>
            <a:r>
              <a:rPr lang="ko-KR" altLang="en-US" sz="24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ㅠ</a:t>
            </a:r>
            <a:endParaRPr lang="en-US" sz="2400" b="0" i="0" u="none" strike="noStrike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855200" y="5727700"/>
            <a:ext cx="59182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옷 이 잘 늘어지다 그냥 잠옷 </a:t>
            </a:r>
            <a:r>
              <a:rPr lang="ko-KR" altLang="en-US" sz="2400" b="0" i="0" u="none" strike="noStrike" dirty="0" err="1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으로</a:t>
            </a:r>
            <a:r>
              <a:rPr lang="ko-KR" altLang="en-US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입다 </a:t>
            </a:r>
            <a:r>
              <a:rPr lang="ko-KR" altLang="en-US" sz="2400" b="0" i="0" u="none" strike="noStrike" dirty="0" err="1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ㅠㅋ</a:t>
            </a:r>
            <a:r>
              <a:rPr lang="ko-KR" altLang="en-US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슬픔</a:t>
            </a:r>
            <a:endParaRPr lang="en-US" sz="2400" b="0" i="0" u="none" strike="noStrike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658600" y="4521200"/>
            <a:ext cx="21082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600" b="0" i="0" u="none" strike="noStrike" spc="200" dirty="0" smtClean="0">
                <a:solidFill>
                  <a:srgbClr val="F5F5F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후</a:t>
            </a:r>
            <a:endParaRPr lang="ko-KR" sz="3600" b="0" i="0" u="none" strike="noStrike" spc="200" dirty="0">
              <a:solidFill>
                <a:srgbClr val="F5F5F5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355850" y="7823200"/>
            <a:ext cx="635635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길이감도 좋고 소재도 좋네요</a:t>
            </a:r>
            <a:r>
              <a:rPr lang="en-US" altLang="ko-KR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lang="en-US" sz="2400" b="0" i="0" u="none" strike="noStrike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355850" y="6781800"/>
            <a:ext cx="635635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생각보다 질은 </a:t>
            </a:r>
            <a:r>
              <a:rPr lang="ko-KR" altLang="en-US" sz="2400" b="0" i="0" u="none" strike="noStrike" dirty="0" err="1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조아뜸</a:t>
            </a:r>
            <a:r>
              <a:rPr lang="ko-KR" altLang="en-US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근데 넘 길어서 </a:t>
            </a:r>
            <a:r>
              <a:rPr lang="ko-KR" altLang="en-US" sz="2400" b="0" i="0" u="none" strike="noStrike" dirty="0" err="1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건조기행</a:t>
            </a:r>
            <a:r>
              <a:rPr lang="ko-KR" altLang="en-US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2400" b="0" i="0" u="none" strike="noStrike" dirty="0" err="1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ㅠ</a:t>
            </a:r>
            <a:endParaRPr lang="en-US" sz="2400" b="0" i="0" u="none" strike="noStrike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521200" y="4521200"/>
            <a:ext cx="21082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600" b="0" i="0" u="none" strike="noStrike" spc="200" dirty="0" smtClean="0">
                <a:solidFill>
                  <a:srgbClr val="F5F5F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</a:t>
            </a:r>
            <a:endParaRPr lang="ko-KR" sz="3600" b="0" i="0" u="none" strike="noStrike" spc="200" dirty="0">
              <a:solidFill>
                <a:srgbClr val="F5F5F5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302000" y="571500"/>
            <a:ext cx="116840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6000" b="0" i="0" u="none" strike="noStrike" spc="200" dirty="0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리뷰 분석</a:t>
            </a:r>
            <a:endParaRPr lang="ko-KR" sz="6000" b="0" i="0" u="none" strike="noStrike" spc="2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85800" y="749300"/>
            <a:ext cx="92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200" dirty="0" smtClean="0">
                <a:solidFill>
                  <a:srgbClr val="000000"/>
                </a:solidFill>
                <a:latin typeface="Pretendard Medium"/>
              </a:rPr>
              <a:t>0</a:t>
            </a:r>
            <a:r>
              <a:rPr lang="en-US" sz="4000" spc="200" dirty="0">
                <a:solidFill>
                  <a:srgbClr val="000000"/>
                </a:solidFill>
                <a:latin typeface="Pretendard Medium"/>
              </a:rPr>
              <a:t>7</a:t>
            </a:r>
            <a:endParaRPr lang="en-US" sz="4000" b="0" i="0" u="none" strike="noStrike" spc="200" dirty="0">
              <a:solidFill>
                <a:srgbClr val="000000"/>
              </a:solidFill>
              <a:latin typeface="Pretendard Medium"/>
            </a:endParaRPr>
          </a:p>
        </p:txBody>
      </p:sp>
      <p:pic>
        <p:nvPicPr>
          <p:cNvPr id="30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6400" y="2311400"/>
            <a:ext cx="2235200" cy="635000"/>
          </a:xfrm>
          <a:prstGeom prst="rect">
            <a:avLst/>
          </a:prstGeom>
        </p:spPr>
      </p:pic>
      <p:sp>
        <p:nvSpPr>
          <p:cNvPr id="31" name="TextBox 26"/>
          <p:cNvSpPr txBox="1"/>
          <p:nvPr/>
        </p:nvSpPr>
        <p:spPr>
          <a:xfrm>
            <a:off x="8064500" y="2387600"/>
            <a:ext cx="21717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400" b="0" i="0" u="none" strike="noStrike" dirty="0" smtClean="0">
                <a:solidFill>
                  <a:srgbClr val="F5F5F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자연어 처리</a:t>
            </a:r>
            <a:endParaRPr lang="ko-KR" sz="2400" b="0" i="0" u="none" strike="noStrike" dirty="0">
              <a:solidFill>
                <a:srgbClr val="F5F5F5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2" name="TextBox 24"/>
          <p:cNvSpPr txBox="1"/>
          <p:nvPr/>
        </p:nvSpPr>
        <p:spPr>
          <a:xfrm>
            <a:off x="2349500" y="5727700"/>
            <a:ext cx="635635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옷이 잘 늘어져서 그냥 잠옷으로 </a:t>
            </a:r>
            <a:r>
              <a:rPr lang="ko-KR" altLang="en-US" sz="2400" b="0" i="0" u="none" strike="noStrike" dirty="0" err="1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입고있어요ㅠㅋ</a:t>
            </a:r>
            <a:r>
              <a:rPr lang="ko-KR" altLang="en-US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슬픔</a:t>
            </a:r>
            <a:endParaRPr lang="en-US" sz="2400" b="0" i="0" u="none" strike="noStrike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406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03100" y="5130800"/>
            <a:ext cx="114046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219700" y="5130800"/>
            <a:ext cx="11404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9791700"/>
            <a:ext cx="18669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500" y="1765300"/>
            <a:ext cx="18923000" cy="12700"/>
          </a:xfrm>
          <a:prstGeom prst="rect">
            <a:avLst/>
          </a:prstGeom>
          <a:effectLst>
            <a:outerShdw blurRad="2" dist="141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482600"/>
            <a:ext cx="18669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824200" y="1117600"/>
            <a:ext cx="12827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68400" y="1117600"/>
            <a:ext cx="12827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85700" y="3937000"/>
            <a:ext cx="3454400" cy="3454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9156700" y="6426200"/>
            <a:ext cx="51435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6800" y="3937000"/>
            <a:ext cx="3454400" cy="3454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3987800" y="6426200"/>
            <a:ext cx="51435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5200" y="3937000"/>
            <a:ext cx="3454400" cy="3454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76700" y="762000"/>
            <a:ext cx="723900" cy="7239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3131800" y="7764378"/>
            <a:ext cx="2362200" cy="1308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ko-KR" altLang="en-US" sz="21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전체 리뷰 중 길이가 </a:t>
            </a:r>
            <a:r>
              <a:rPr lang="en-US" altLang="ko-KR" sz="21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50 </a:t>
            </a:r>
            <a:r>
              <a:rPr lang="ko-KR" altLang="en-US" sz="21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이하인 샘플의 비율이 </a:t>
            </a:r>
            <a:r>
              <a:rPr lang="en-US" altLang="ko-KR" sz="21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97%</a:t>
            </a:r>
            <a:r>
              <a:rPr lang="ko-KR" altLang="en-US" sz="21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로 길이를 </a:t>
            </a:r>
            <a:r>
              <a:rPr lang="en-US" altLang="ko-KR" sz="21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50</a:t>
            </a:r>
            <a:r>
              <a:rPr lang="ko-KR" altLang="en-US" sz="21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으로 맞춤</a:t>
            </a:r>
            <a:endParaRPr lang="en-US" sz="2100" b="0" i="0" u="none" strike="noStrike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827000" y="4622800"/>
            <a:ext cx="2997200" cy="205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1220"/>
              </a:lnSpc>
            </a:pPr>
            <a:r>
              <a:rPr lang="ko-KR" altLang="en-US" sz="3000" b="0" i="0" u="none" strike="noStrike" dirty="0" smtClean="0">
                <a:solidFill>
                  <a:srgbClr val="F5F5F5"/>
                </a:solidFill>
                <a:ea typeface="Pretendard SemiBold"/>
              </a:rPr>
              <a:t>전체 데이터의 길이는 </a:t>
            </a:r>
            <a:r>
              <a:rPr lang="en-US" altLang="ko-KR" sz="3000" b="0" i="0" u="none" strike="noStrike" dirty="0" smtClean="0">
                <a:solidFill>
                  <a:srgbClr val="F5F5F5"/>
                </a:solidFill>
                <a:ea typeface="Pretendard SemiBold"/>
              </a:rPr>
              <a:t>50</a:t>
            </a:r>
            <a:r>
              <a:rPr lang="ko-KR" altLang="en-US" sz="3000" b="0" i="0" u="none" strike="noStrike" dirty="0" smtClean="0">
                <a:solidFill>
                  <a:srgbClr val="F5F5F5"/>
                </a:solidFill>
                <a:ea typeface="Pretendard SemiBold"/>
              </a:rPr>
              <a:t>으로 </a:t>
            </a:r>
            <a:endParaRPr lang="en-US" altLang="ko-KR" sz="3000" b="0" i="0" u="none" strike="noStrike" dirty="0" smtClean="0">
              <a:solidFill>
                <a:srgbClr val="F5F5F5"/>
              </a:solidFill>
              <a:ea typeface="Pretendard SemiBold"/>
            </a:endParaRPr>
          </a:p>
          <a:p>
            <a:pPr lvl="0" algn="ctr">
              <a:lnSpc>
                <a:spcPct val="111220"/>
              </a:lnSpc>
            </a:pPr>
            <a:r>
              <a:rPr lang="ko-KR" altLang="en-US" sz="3000" b="0" i="0" u="none" strike="noStrike" dirty="0" smtClean="0">
                <a:solidFill>
                  <a:srgbClr val="F5F5F5"/>
                </a:solidFill>
                <a:ea typeface="Pretendard SemiBold"/>
              </a:rPr>
              <a:t>맞춤</a:t>
            </a:r>
            <a:endParaRPr lang="ko-KR" sz="3000" b="0" i="0" u="none" strike="noStrike" dirty="0">
              <a:solidFill>
                <a:srgbClr val="F5F5F5"/>
              </a:solidFill>
              <a:ea typeface="Pretendard Semi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670800" y="7620000"/>
            <a:ext cx="2946400" cy="1308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en-US" altLang="ko-KR" sz="21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Threshold </a:t>
            </a:r>
            <a:r>
              <a:rPr lang="ko-KR" altLang="en-US" sz="21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보다 낮은 단어의 경우 제거</a:t>
            </a:r>
            <a:endParaRPr lang="en-US" sz="2100" b="0" i="0" u="none" strike="noStrike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645400" y="4622800"/>
            <a:ext cx="2997200" cy="205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1220"/>
              </a:lnSpc>
            </a:pPr>
            <a:r>
              <a:rPr lang="ko-KR" altLang="en-US" sz="3000" b="0" i="0" u="none" strike="noStrike" dirty="0" smtClean="0">
                <a:solidFill>
                  <a:srgbClr val="F5F5F5"/>
                </a:solidFill>
                <a:ea typeface="Pretendard SemiBold"/>
              </a:rPr>
              <a:t>단어 빈도가 적은 단어는 제거</a:t>
            </a:r>
            <a:endParaRPr lang="ko-KR" sz="3000" b="0" i="0" u="none" strike="noStrike" dirty="0">
              <a:solidFill>
                <a:srgbClr val="F5F5F5"/>
              </a:solidFill>
              <a:ea typeface="Pretendard Semi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781300" y="7620000"/>
            <a:ext cx="2362200" cy="1308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ko-KR" altLang="en-US" sz="21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정수 </a:t>
            </a:r>
            <a:r>
              <a:rPr lang="ko-KR" altLang="en-US" sz="2100" b="0" i="0" u="none" strike="noStrike" dirty="0" err="1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인코딩을</a:t>
            </a:r>
            <a:r>
              <a:rPr lang="ko-KR" altLang="en-US" sz="21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통해 각 단어마다 </a:t>
            </a:r>
            <a:r>
              <a:rPr lang="ko-KR" altLang="en-US" sz="2100" b="0" i="0" u="none" strike="noStrike" dirty="0" err="1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정수값</a:t>
            </a:r>
            <a:r>
              <a:rPr lang="ko-KR" altLang="en-US" sz="21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부여</a:t>
            </a:r>
            <a:endParaRPr lang="en-US" sz="2100" b="0" i="0" u="none" strike="noStrike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476500" y="4622800"/>
            <a:ext cx="2997200" cy="205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1220"/>
              </a:lnSpc>
            </a:pPr>
            <a:r>
              <a:rPr lang="ko-KR" altLang="en-US" sz="3000" b="0" i="0" u="none" strike="noStrike" dirty="0" smtClean="0">
                <a:solidFill>
                  <a:srgbClr val="F5F5F5"/>
                </a:solidFill>
                <a:ea typeface="Pretendard SemiBold"/>
              </a:rPr>
              <a:t>단어 빈도수</a:t>
            </a:r>
            <a:endParaRPr lang="en-US" altLang="ko-KR" sz="3000" b="0" i="0" u="none" strike="noStrike" dirty="0" smtClean="0">
              <a:solidFill>
                <a:srgbClr val="F5F5F5"/>
              </a:solidFill>
              <a:ea typeface="Pretendard SemiBold"/>
            </a:endParaRPr>
          </a:p>
          <a:p>
            <a:pPr lvl="0" algn="ctr">
              <a:lnSpc>
                <a:spcPct val="111220"/>
              </a:lnSpc>
            </a:pPr>
            <a:r>
              <a:rPr lang="ko-KR" altLang="en-US" sz="3000" b="0" i="0" u="none" strike="noStrike" dirty="0" smtClean="0">
                <a:solidFill>
                  <a:srgbClr val="F5F5F5"/>
                </a:solidFill>
                <a:ea typeface="Pretendard SemiBold"/>
              </a:rPr>
              <a:t>확인</a:t>
            </a:r>
            <a:endParaRPr lang="ko-KR" sz="3000" b="0" i="0" u="none" strike="noStrike" dirty="0">
              <a:solidFill>
                <a:srgbClr val="F5F5F5"/>
              </a:solidFill>
              <a:ea typeface="Pretendard Semi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302000" y="571500"/>
            <a:ext cx="116840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6000" b="0" i="0" u="none" strike="noStrike" spc="200" dirty="0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리뷰 분석</a:t>
            </a:r>
            <a:endParaRPr lang="ko-KR" sz="6000" b="0" i="0" u="none" strike="noStrike" spc="2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85800" y="749300"/>
            <a:ext cx="92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200" dirty="0" smtClean="0">
                <a:solidFill>
                  <a:srgbClr val="000000"/>
                </a:solidFill>
                <a:latin typeface="Pretendard Medium"/>
              </a:rPr>
              <a:t>0</a:t>
            </a:r>
            <a:r>
              <a:rPr lang="en-US" sz="4000" spc="200" dirty="0">
                <a:solidFill>
                  <a:srgbClr val="000000"/>
                </a:solidFill>
                <a:latin typeface="Pretendard Medium"/>
              </a:rPr>
              <a:t>8</a:t>
            </a:r>
            <a:endParaRPr lang="en-US" sz="4000" b="0" i="0" u="none" strike="noStrike" spc="200" dirty="0">
              <a:solidFill>
                <a:srgbClr val="000000"/>
              </a:solidFill>
              <a:latin typeface="Pretendard Medium"/>
            </a:endParaRPr>
          </a:p>
        </p:txBody>
      </p:sp>
      <p:pic>
        <p:nvPicPr>
          <p:cNvPr id="25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6400" y="2311400"/>
            <a:ext cx="2235200" cy="6350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8064500" y="2387600"/>
            <a:ext cx="21717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 smtClean="0">
                <a:solidFill>
                  <a:srgbClr val="F5F5F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정수 </a:t>
            </a:r>
            <a:r>
              <a:rPr lang="ko-KR" altLang="en-US" sz="2600" b="0" i="0" u="none" strike="noStrike" dirty="0" err="1" smtClean="0">
                <a:solidFill>
                  <a:srgbClr val="F5F5F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인코딩</a:t>
            </a:r>
            <a:endParaRPr lang="ko-KR" sz="2600" b="0" i="0" u="none" strike="noStrike" dirty="0">
              <a:solidFill>
                <a:srgbClr val="F5F5F5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561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03100" y="5130800"/>
            <a:ext cx="114046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219700" y="5130800"/>
            <a:ext cx="11404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9791700"/>
            <a:ext cx="18669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500" y="1765300"/>
            <a:ext cx="18923000" cy="12700"/>
          </a:xfrm>
          <a:prstGeom prst="rect">
            <a:avLst/>
          </a:prstGeom>
          <a:effectLst>
            <a:outerShdw blurRad="2" dist="141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482600"/>
            <a:ext cx="18669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824200" y="1117600"/>
            <a:ext cx="12827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68400" y="1117600"/>
            <a:ext cx="12827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803900" y="5778500"/>
            <a:ext cx="66675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10800000">
            <a:off x="1193800" y="5778500"/>
            <a:ext cx="159131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0800" y="6604000"/>
            <a:ext cx="1943100" cy="1943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9400" y="6731000"/>
            <a:ext cx="1473200" cy="1473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0400" y="6604000"/>
            <a:ext cx="1943100" cy="1943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5200" y="6832600"/>
            <a:ext cx="1409700" cy="1409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0800" y="3035300"/>
            <a:ext cx="1943100" cy="1943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90200" y="3314700"/>
            <a:ext cx="1358900" cy="1358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17700" y="3035300"/>
            <a:ext cx="1943100" cy="1943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9800" y="3314700"/>
            <a:ext cx="1358900" cy="1358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776700" y="762000"/>
            <a:ext cx="723900" cy="7239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2509500" y="7326901"/>
            <a:ext cx="4495800" cy="110256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07899"/>
              </a:lnSpc>
              <a:buFont typeface="Arial" panose="020B0604020202020204" pitchFamily="34" charset="0"/>
              <a:buChar char="•"/>
            </a:pPr>
            <a:r>
              <a:rPr lang="en-US" altLang="ko-KR" sz="2400" b="0" i="0" u="none" strike="noStrike" dirty="0" err="1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Model.fit</a:t>
            </a:r>
            <a:r>
              <a:rPr lang="en-US" altLang="ko-KR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()</a:t>
            </a:r>
            <a:r>
              <a:rPr lang="ko-KR" altLang="en-US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으로 모델 학습</a:t>
            </a:r>
            <a:endParaRPr lang="en-US" sz="2400" b="0" i="0" u="none" strike="noStrike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509500" y="6565900"/>
            <a:ext cx="29464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6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학습</a:t>
            </a:r>
            <a:endParaRPr lang="ko-KR" sz="3600" b="0" i="0" u="none" strike="noStrike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229100" y="7340599"/>
            <a:ext cx="4495800" cy="164231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07899"/>
              </a:lnSpc>
              <a:buFont typeface="Arial" panose="020B0604020202020204" pitchFamily="34" charset="0"/>
              <a:buChar char="•"/>
            </a:pPr>
            <a:r>
              <a:rPr lang="en-US" altLang="ko-KR" sz="2400" b="0" i="0" u="none" strike="noStrike" dirty="0" err="1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RMSprop</a:t>
            </a:r>
            <a:r>
              <a:rPr lang="en-US" altLang="ko-KR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2400" b="0" i="0" u="none" strike="noStrike" dirty="0" err="1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옵티마이저와</a:t>
            </a:r>
            <a:r>
              <a:rPr lang="ko-KR" altLang="en-US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이진 교차 엔트로피 손실 함수를 사용하여 모델 컴파일</a:t>
            </a:r>
            <a:endParaRPr lang="en-US" sz="2400" b="0" i="0" u="none" strike="noStrike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229100" y="6565900"/>
            <a:ext cx="29464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600" b="0" i="0" u="none" strike="noStrike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모델 컴파일</a:t>
            </a:r>
            <a:endParaRPr lang="ko-KR" sz="3600" b="0" i="0" u="none" strike="noStrike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509500" y="3603459"/>
            <a:ext cx="44958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07899"/>
              </a:lnSpc>
              <a:buFont typeface="Arial" panose="020B0604020202020204" pitchFamily="34" charset="0"/>
              <a:buChar char="•"/>
            </a:pPr>
            <a:r>
              <a:rPr lang="ko-KR" altLang="en-US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긍정</a:t>
            </a:r>
            <a:r>
              <a:rPr lang="en-US" altLang="ko-KR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(1) / </a:t>
            </a:r>
            <a:r>
              <a:rPr lang="ko-KR" altLang="en-US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부정</a:t>
            </a:r>
            <a:r>
              <a:rPr lang="en-US" altLang="ko-KR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(0) </a:t>
            </a:r>
            <a:r>
              <a:rPr lang="ko-KR" altLang="en-US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 값으로</a:t>
            </a:r>
            <a:r>
              <a:rPr lang="en-US" altLang="ko-KR" sz="24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2400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분류</a:t>
            </a:r>
            <a:endParaRPr lang="en-US" altLang="ko-KR" sz="2400" b="0" i="0" u="none" strike="noStrike" dirty="0" smtClean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2509500" y="2997200"/>
            <a:ext cx="29464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6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이진 분류</a:t>
            </a:r>
            <a:endParaRPr lang="ko-KR" sz="3600" b="0" i="0" u="none" strike="noStrike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216400" y="3670967"/>
            <a:ext cx="4997450" cy="164231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07899"/>
              </a:lnSpc>
              <a:buFont typeface="Arial" panose="020B0604020202020204" pitchFamily="34" charset="0"/>
              <a:buChar char="•"/>
            </a:pPr>
            <a:r>
              <a:rPr lang="en-US" altLang="ko-KR" sz="2400" b="0" i="0" u="none" strike="noStrike" dirty="0" err="1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EarlyStopping</a:t>
            </a:r>
            <a:r>
              <a:rPr lang="en-US" altLang="ko-KR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</a:p>
          <a:p>
            <a:pPr marL="342900" lvl="0" indent="-342900" algn="l">
              <a:lnSpc>
                <a:spcPct val="107899"/>
              </a:lnSpc>
              <a:buFont typeface="Arial" panose="020B0604020202020204" pitchFamily="34" charset="0"/>
              <a:buChar char="•"/>
            </a:pPr>
            <a:r>
              <a:rPr lang="en-US" altLang="ko-KR" sz="2400" b="0" i="0" u="none" strike="noStrike" dirty="0" err="1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ModelCheckpoint</a:t>
            </a:r>
            <a:endParaRPr lang="en-US" altLang="ko-KR" sz="2400" b="0" i="0" u="none" strike="noStrike" dirty="0" smtClean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lvl="0" algn="l">
              <a:lnSpc>
                <a:spcPct val="107899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216400" y="2997200"/>
            <a:ext cx="29464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600" b="0" i="0" u="none" strike="noStrike" dirty="0" err="1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콜백</a:t>
            </a:r>
            <a:r>
              <a:rPr lang="ko-KR" altLang="en-US" sz="36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설정</a:t>
            </a:r>
            <a:endParaRPr lang="ko-KR" sz="3600" b="0" i="0" u="none" strike="noStrike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302000" y="571500"/>
            <a:ext cx="116840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6000" b="0" i="0" u="none" strike="noStrike" spc="200" dirty="0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리뷰 분석</a:t>
            </a:r>
            <a:endParaRPr lang="ko-KR" sz="6000" b="0" i="0" u="none" strike="noStrike" spc="2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85800" y="749300"/>
            <a:ext cx="92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200" dirty="0" smtClean="0">
                <a:solidFill>
                  <a:srgbClr val="000000"/>
                </a:solidFill>
                <a:latin typeface="Pretendard Medium"/>
              </a:rPr>
              <a:t>0</a:t>
            </a:r>
            <a:r>
              <a:rPr lang="en-US" sz="4000" spc="200" dirty="0">
                <a:solidFill>
                  <a:srgbClr val="000000"/>
                </a:solidFill>
                <a:latin typeface="Pretendard Medium"/>
              </a:rPr>
              <a:t>9</a:t>
            </a:r>
            <a:endParaRPr lang="en-US" sz="4000" b="0" i="0" u="none" strike="noStrike" spc="200" dirty="0">
              <a:solidFill>
                <a:srgbClr val="000000"/>
              </a:solidFill>
              <a:latin typeface="Pretendard Medium"/>
            </a:endParaRPr>
          </a:p>
        </p:txBody>
      </p:sp>
      <p:pic>
        <p:nvPicPr>
          <p:cNvPr id="30" name="Picture 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7350" y="2290011"/>
            <a:ext cx="2235200" cy="635000"/>
          </a:xfrm>
          <a:prstGeom prst="rect">
            <a:avLst/>
          </a:prstGeom>
        </p:spPr>
      </p:pic>
      <p:sp>
        <p:nvSpPr>
          <p:cNvPr id="31" name="TextBox 26"/>
          <p:cNvSpPr txBox="1"/>
          <p:nvPr/>
        </p:nvSpPr>
        <p:spPr>
          <a:xfrm>
            <a:off x="8045450" y="2366211"/>
            <a:ext cx="21717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00" b="0" i="0" u="none" strike="noStrike" smtClean="0">
                <a:solidFill>
                  <a:srgbClr val="F5F5F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LSTM</a:t>
            </a:r>
            <a:endParaRPr lang="ko-KR" sz="2600" b="0" i="0" u="none" strike="noStrike" dirty="0">
              <a:solidFill>
                <a:srgbClr val="F5F5F5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96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03100" y="5130800"/>
            <a:ext cx="114046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219700" y="5130800"/>
            <a:ext cx="11404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9791700"/>
            <a:ext cx="18669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500" y="1765300"/>
            <a:ext cx="18923000" cy="12700"/>
          </a:xfrm>
          <a:prstGeom prst="rect">
            <a:avLst/>
          </a:prstGeom>
          <a:effectLst>
            <a:outerShdw blurRad="2" dist="141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482600"/>
            <a:ext cx="18669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824200" y="1117600"/>
            <a:ext cx="12827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68400" y="1117600"/>
            <a:ext cx="12827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76700" y="762000"/>
            <a:ext cx="723900" cy="723900"/>
          </a:xfrm>
          <a:prstGeom prst="rect">
            <a:avLst/>
          </a:prstGeom>
        </p:spPr>
      </p:pic>
      <p:graphicFrame>
        <p:nvGraphicFramePr>
          <p:cNvPr id="11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047044"/>
              </p:ext>
            </p:extLst>
          </p:nvPr>
        </p:nvGraphicFramePr>
        <p:xfrm>
          <a:off x="2882900" y="3479800"/>
          <a:ext cx="13195300" cy="5851357"/>
        </p:xfrm>
        <a:graphic>
          <a:graphicData uri="http://schemas.openxmlformats.org/drawingml/2006/table">
            <a:tbl>
              <a:tblPr/>
              <a:tblGrid>
                <a:gridCol w="2639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9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9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9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9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9206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000" dirty="0" smtClean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예문을 입력하여 </a:t>
                      </a:r>
                      <a:r>
                        <a:rPr lang="ko-KR" altLang="en-US" sz="2000" dirty="0" err="1" smtClean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긍부정</a:t>
                      </a:r>
                      <a:r>
                        <a:rPr lang="ko-KR" altLang="en-US" sz="2000" dirty="0" smtClean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분석</a:t>
                      </a:r>
                      <a:endParaRPr lang="en-US" sz="20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006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b="0" i="0" u="none" strike="noStrike" dirty="0" smtClean="0">
                          <a:solidFill>
                            <a:srgbClr val="000000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예문 </a:t>
                      </a:r>
                      <a:r>
                        <a:rPr lang="en-US" altLang="ko-KR" sz="2400" b="0" i="0" u="none" strike="noStrike" dirty="0" smtClean="0">
                          <a:solidFill>
                            <a:srgbClr val="000000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</a:t>
                      </a:r>
                      <a:endParaRPr 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0" kern="12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'</a:t>
                      </a:r>
                      <a:r>
                        <a:rPr lang="ko-KR" altLang="en-US" sz="2400" b="0" kern="1200" dirty="0" err="1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아방하구</a:t>
                      </a:r>
                      <a:r>
                        <a:rPr lang="ko-KR" altLang="en-US" sz="2400" b="0" kern="12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 빵빵하니 귀엽게 잘 입고 다녀요</a:t>
                      </a:r>
                      <a:r>
                        <a:rPr lang="en-US" altLang="ko-KR" sz="2400" b="0" kern="12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. </a:t>
                      </a:r>
                      <a:r>
                        <a:rPr lang="ko-KR" altLang="en-US" sz="2400" b="0" kern="12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안에 뭘 입어도 잘 어울려요</a:t>
                      </a:r>
                      <a:r>
                        <a:rPr lang="en-US" altLang="ko-KR" sz="2400" b="0" kern="12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.'</a:t>
                      </a:r>
                      <a:endParaRPr lang="ko-KR" altLang="en-US" sz="2400" b="0" kern="1200" dirty="0" smtClean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9583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b="0" i="0" u="none" strike="noStrike" dirty="0" smtClean="0">
                          <a:solidFill>
                            <a:srgbClr val="000000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결과</a:t>
                      </a:r>
                      <a:endParaRPr 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982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b="0" i="0" u="none" strike="noStrike" dirty="0" smtClean="0">
                          <a:solidFill>
                            <a:srgbClr val="000000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예문 </a:t>
                      </a:r>
                      <a:r>
                        <a:rPr lang="en-US" altLang="ko-KR" sz="2400" b="0" i="0" u="none" strike="noStrike" dirty="0" smtClean="0">
                          <a:solidFill>
                            <a:srgbClr val="000000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</a:t>
                      </a:r>
                      <a:endParaRPr 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0" kern="12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'</a:t>
                      </a:r>
                      <a:r>
                        <a:rPr lang="ko-KR" altLang="en-US" sz="2400" b="0" kern="12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사이즈 너무 크고 생각보다 별로 </a:t>
                      </a:r>
                      <a:r>
                        <a:rPr lang="ko-KR" altLang="en-US" sz="2400" b="0" kern="1200" dirty="0" err="1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안이뻐요</a:t>
                      </a:r>
                      <a:r>
                        <a:rPr lang="ko-KR" altLang="en-US" sz="2400" b="0" kern="12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 전체적으로 아쉽다</a:t>
                      </a:r>
                      <a:r>
                        <a:rPr lang="en-US" altLang="ko-KR" sz="2400" b="0" kern="12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+mn-cs"/>
                        </a:rPr>
                        <a:t>'</a:t>
                      </a:r>
                      <a:endParaRPr lang="ko-KR" altLang="en-US" sz="2400" b="0" kern="1200" dirty="0" smtClean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+mn-cs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9822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b="0" i="0" u="none" strike="noStrike" dirty="0" smtClean="0">
                          <a:solidFill>
                            <a:srgbClr val="000000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결과</a:t>
                      </a:r>
                      <a:endParaRPr lang="en-US" sz="12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40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40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3302000" y="571500"/>
            <a:ext cx="116840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6000" b="0" i="0" u="none" strike="noStrike" spc="200" dirty="0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리뷰 분석</a:t>
            </a:r>
            <a:endParaRPr lang="ko-KR" sz="6000" b="0" i="0" u="none" strike="noStrike" spc="2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85800" y="749300"/>
            <a:ext cx="92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spc="200" dirty="0" smtClean="0">
                <a:solidFill>
                  <a:srgbClr val="000000"/>
                </a:solidFill>
                <a:latin typeface="Pretendard Medium"/>
              </a:rPr>
              <a:t>10</a:t>
            </a:r>
            <a:endParaRPr lang="en-US" sz="4000" b="0" i="0" u="none" strike="noStrike" spc="200" dirty="0">
              <a:solidFill>
                <a:srgbClr val="000000"/>
              </a:solidFill>
              <a:latin typeface="Pretendard Medium"/>
            </a:endParaRPr>
          </a:p>
        </p:txBody>
      </p:sp>
      <p:pic>
        <p:nvPicPr>
          <p:cNvPr id="16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6400" y="2311400"/>
            <a:ext cx="2235200" cy="635000"/>
          </a:xfrm>
          <a:prstGeom prst="rect">
            <a:avLst/>
          </a:prstGeom>
        </p:spPr>
      </p:pic>
      <p:sp>
        <p:nvSpPr>
          <p:cNvPr id="17" name="TextBox 26"/>
          <p:cNvSpPr txBox="1"/>
          <p:nvPr/>
        </p:nvSpPr>
        <p:spPr>
          <a:xfrm>
            <a:off x="8064500" y="2387600"/>
            <a:ext cx="21717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dirty="0" err="1" smtClean="0">
                <a:solidFill>
                  <a:srgbClr val="F5F5F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긍부정</a:t>
            </a:r>
            <a:r>
              <a:rPr lang="ko-KR" altLang="en-US" sz="2600" b="0" i="0" u="none" strike="noStrike" dirty="0" smtClean="0">
                <a:solidFill>
                  <a:srgbClr val="F5F5F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분석</a:t>
            </a:r>
            <a:endParaRPr lang="ko-KR" sz="2600" b="0" i="0" u="none" strike="noStrike" dirty="0">
              <a:solidFill>
                <a:srgbClr val="F5F5F5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9" name="내용 개체 틀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6733" y="5753100"/>
            <a:ext cx="10172867" cy="99060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76733" y="8191500"/>
            <a:ext cx="10172867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46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03100" y="5130800"/>
            <a:ext cx="114046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219700" y="5130800"/>
            <a:ext cx="11404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9791700"/>
            <a:ext cx="18669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500" y="1765300"/>
            <a:ext cx="18923000" cy="12700"/>
          </a:xfrm>
          <a:prstGeom prst="rect">
            <a:avLst/>
          </a:prstGeom>
          <a:effectLst>
            <a:outerShdw blurRad="2" dist="141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482600"/>
            <a:ext cx="18669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824200" y="1117600"/>
            <a:ext cx="12827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68400" y="1117600"/>
            <a:ext cx="12827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5200" y="2463800"/>
            <a:ext cx="13817600" cy="762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76700" y="762000"/>
            <a:ext cx="723900" cy="723900"/>
          </a:xfrm>
          <a:prstGeom prst="rect">
            <a:avLst/>
          </a:prstGeom>
        </p:spPr>
      </p:pic>
      <p:graphicFrame>
        <p:nvGraphicFramePr>
          <p:cNvPr id="11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786021"/>
              </p:ext>
            </p:extLst>
          </p:nvPr>
        </p:nvGraphicFramePr>
        <p:xfrm>
          <a:off x="2882900" y="3975100"/>
          <a:ext cx="12509500" cy="4914900"/>
        </p:xfrm>
        <a:graphic>
          <a:graphicData uri="http://schemas.openxmlformats.org/drawingml/2006/table">
            <a:tbl>
              <a:tblPr/>
              <a:tblGrid>
                <a:gridCol w="250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1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1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93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b="0" i="0" u="none" strike="noStrike" dirty="0" smtClean="0">
                          <a:solidFill>
                            <a:srgbClr val="FFFFFF"/>
                          </a:solidFill>
                          <a:ea typeface="Pretendard Regular"/>
                        </a:rPr>
                        <a:t>상품 아이디</a:t>
                      </a: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b="0" i="0" u="none" strike="noStrike" dirty="0">
                          <a:solidFill>
                            <a:srgbClr val="FFFFFF"/>
                          </a:solidFill>
                          <a:latin typeface="Pretendard Regular"/>
                        </a:rPr>
                        <a:t>키</a:t>
                      </a: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b="0" i="0" u="none" strike="noStrike" dirty="0" smtClean="0">
                          <a:solidFill>
                            <a:srgbClr val="FFFFFF"/>
                          </a:solidFill>
                          <a:latin typeface="Pretendard Regular"/>
                        </a:rPr>
                        <a:t>몸무게</a:t>
                      </a: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b="0" i="0" u="none" strike="noStrike" dirty="0" smtClean="0">
                          <a:solidFill>
                            <a:srgbClr val="FFFFFF"/>
                          </a:solidFill>
                          <a:latin typeface="Pretendard Regular"/>
                        </a:rPr>
                        <a:t>성별</a:t>
                      </a: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b="0" i="0" u="none" strike="noStrike" dirty="0" smtClean="0">
                          <a:solidFill>
                            <a:srgbClr val="FFFFFF"/>
                          </a:solidFill>
                          <a:latin typeface="Pretendard Regular"/>
                        </a:rPr>
                        <a:t>사이즈</a:t>
                      </a:r>
                      <a:endParaRPr lang="en-US" sz="1100" dirty="0"/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2400" b="0" i="0" kern="1200" dirty="0" smtClean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1551840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2400" b="0" i="0" kern="1200" dirty="0" smtClean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159.0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2400" b="0" i="0" kern="1200" dirty="0" smtClean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50.0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b="0" i="0" u="none" strike="noStrike" dirty="0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여성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2400" b="0" i="0" u="none" strike="noStrike" dirty="0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2400" b="0" i="0" kern="1200" dirty="0" smtClean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2368712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2400" b="0" i="0" kern="1200" dirty="0" smtClean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178.0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2400" b="0" i="0" kern="1200" dirty="0" smtClean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80.0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b="0" i="0" kern="1200" dirty="0" smtClean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남성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2400" b="0" i="0" kern="1200" dirty="0" smtClean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XL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40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2400" b="0" i="0" kern="1200" dirty="0" smtClean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1551840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157.0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47.0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여성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40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2368712</a:t>
                      </a:r>
                    </a:p>
                  </a:txBody>
                  <a:tcPr marL="76200" marR="76200" marT="38100" marB="381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176.0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76.0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남성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40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XL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19050" marR="19050" marT="19050" marB="1905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3111500" y="2628900"/>
            <a:ext cx="120650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ko-KR" altLang="en-US" sz="2400" b="0" i="0" u="none" strike="noStrike" dirty="0" err="1" smtClean="0"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무신사</a:t>
            </a:r>
            <a:r>
              <a:rPr lang="ko-KR" altLang="en-US" sz="2400" b="0" i="0" u="none" strike="noStrike" dirty="0" smtClean="0"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사이트 리뷰에서 약 </a:t>
            </a:r>
            <a:r>
              <a:rPr lang="en-US" altLang="ko-KR" sz="2400" b="0" i="0" u="none" strike="noStrike" dirty="0" smtClean="0"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70000</a:t>
            </a:r>
            <a:r>
              <a:rPr lang="ko-KR" altLang="en-US" sz="2400" b="0" i="0" u="none" strike="noStrike" dirty="0" smtClean="0"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여개의 리뷰 데이터 </a:t>
            </a:r>
            <a:r>
              <a:rPr lang="ko-KR" altLang="en-US" sz="2400" b="0" i="0" u="none" strike="noStrike" dirty="0" err="1" smtClean="0"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크롤링</a:t>
            </a:r>
            <a:r>
              <a:rPr lang="en-US" sz="2400" b="0" i="0" u="none" strike="noStrike" dirty="0" smtClean="0"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lang="en-US" sz="2400" b="0" i="0" u="none" strike="noStrike" dirty="0">
              <a:solidFill>
                <a:srgbClr val="FFFFF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302000" y="571500"/>
            <a:ext cx="116840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6000" spc="200" dirty="0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사이즈 추천 시스템</a:t>
            </a:r>
            <a:endParaRPr lang="ko-KR" sz="6000" b="0" i="0" u="none" strike="noStrike" spc="2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85800" y="749300"/>
            <a:ext cx="92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spc="200" dirty="0" smtClean="0">
                <a:solidFill>
                  <a:srgbClr val="000000"/>
                </a:solidFill>
                <a:latin typeface="Pretendard Medium"/>
              </a:rPr>
              <a:t>11</a:t>
            </a:r>
            <a:endParaRPr lang="en-US" sz="4000" b="0" i="0" u="none" strike="noStrike" spc="200" dirty="0">
              <a:solidFill>
                <a:srgbClr val="000000"/>
              </a:solidFill>
              <a:latin typeface="Pretendard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03100" y="5130800"/>
            <a:ext cx="114046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219700" y="5130800"/>
            <a:ext cx="11404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9791700"/>
            <a:ext cx="18669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500" y="1765300"/>
            <a:ext cx="18923000" cy="12700"/>
          </a:xfrm>
          <a:prstGeom prst="rect">
            <a:avLst/>
          </a:prstGeom>
          <a:effectLst>
            <a:outerShdw blurRad="2" dist="141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482600"/>
            <a:ext cx="18669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824200" y="1117600"/>
            <a:ext cx="12827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68400" y="1117600"/>
            <a:ext cx="12827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1193800" y="6705600"/>
            <a:ext cx="159131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77900" y="6375400"/>
            <a:ext cx="2590800" cy="647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20800" y="4318000"/>
            <a:ext cx="1905000" cy="1905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28600" y="6553200"/>
            <a:ext cx="190500" cy="292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1700" y="6375400"/>
            <a:ext cx="2590800" cy="647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4600" y="4318000"/>
            <a:ext cx="1905000" cy="1905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5100" y="6553200"/>
            <a:ext cx="190500" cy="292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0" y="6375400"/>
            <a:ext cx="2590800" cy="647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4318000"/>
            <a:ext cx="1905000" cy="1905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8900" y="6553200"/>
            <a:ext cx="190500" cy="2921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9300" y="6375400"/>
            <a:ext cx="2590800" cy="647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62200" y="4318000"/>
            <a:ext cx="1905000" cy="1905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5800" y="2705100"/>
            <a:ext cx="9296400" cy="1016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776700" y="762000"/>
            <a:ext cx="723900" cy="7239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2971508" y="7658100"/>
            <a:ext cx="4003584" cy="1320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ko-KR" altLang="en-US" sz="2400" dirty="0" smtClean="0">
                <a:solidFill>
                  <a:srgbClr val="000000"/>
                </a:solidFill>
                <a:ea typeface="Pretendard Regular"/>
              </a:rPr>
              <a:t>사이즈를 </a:t>
            </a:r>
            <a:r>
              <a:rPr lang="en-US" altLang="ko-KR" sz="2400" dirty="0" smtClean="0">
                <a:solidFill>
                  <a:srgbClr val="000000"/>
                </a:solidFill>
                <a:ea typeface="Pretendard Regular"/>
              </a:rPr>
              <a:t>S, M, L, XL </a:t>
            </a:r>
            <a:r>
              <a:rPr lang="ko-KR" altLang="en-US" sz="2400" dirty="0" smtClean="0">
                <a:solidFill>
                  <a:srgbClr val="000000"/>
                </a:solidFill>
                <a:ea typeface="Pretendard Regular"/>
              </a:rPr>
              <a:t>로 한정</a:t>
            </a:r>
            <a:endParaRPr lang="en-US" altLang="ko-KR" sz="2400" dirty="0" smtClean="0">
              <a:solidFill>
                <a:srgbClr val="000000"/>
              </a:solidFill>
              <a:ea typeface="Pretendard Regular"/>
            </a:endParaRPr>
          </a:p>
          <a:p>
            <a:pPr lvl="0" algn="ctr">
              <a:lnSpc>
                <a:spcPct val="120350"/>
              </a:lnSpc>
            </a:pPr>
            <a:endParaRPr lang="en-US" altLang="ko-KR" sz="800" b="0" i="0" u="none" strike="noStrike" dirty="0" smtClean="0">
              <a:solidFill>
                <a:srgbClr val="000000"/>
              </a:solidFill>
              <a:ea typeface="Pretendard Regular"/>
            </a:endParaRPr>
          </a:p>
          <a:p>
            <a:pPr lvl="0" algn="ctr">
              <a:lnSpc>
                <a:spcPct val="120350"/>
              </a:lnSpc>
            </a:pPr>
            <a:r>
              <a:rPr lang="ko-KR" altLang="en-US" sz="2400" b="0" i="0" u="none" strike="noStrike" dirty="0" smtClean="0">
                <a:solidFill>
                  <a:srgbClr val="000000"/>
                </a:solidFill>
                <a:ea typeface="Pretendard Regular"/>
              </a:rPr>
              <a:t>범주형 변수에 </a:t>
            </a:r>
            <a:r>
              <a:rPr lang="ko-KR" altLang="en-US" sz="2400" b="0" i="0" u="none" strike="noStrike" dirty="0" err="1" smtClean="0">
                <a:solidFill>
                  <a:srgbClr val="000000"/>
                </a:solidFill>
                <a:ea typeface="Pretendard Regular"/>
              </a:rPr>
              <a:t>라벨링</a:t>
            </a:r>
            <a:r>
              <a:rPr lang="ko-KR" altLang="en-US" sz="2400" b="0" i="0" u="none" strike="noStrike" dirty="0" smtClean="0">
                <a:solidFill>
                  <a:srgbClr val="000000"/>
                </a:solidFill>
                <a:ea typeface="Pretendard Regular"/>
              </a:rPr>
              <a:t> 진행</a:t>
            </a: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3931900" y="6464300"/>
            <a:ext cx="20828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spc="200" dirty="0" err="1" smtClean="0">
                <a:solidFill>
                  <a:srgbClr val="F5F5F5"/>
                </a:solidFill>
                <a:ea typeface="Pretendard SemiBold"/>
              </a:rPr>
              <a:t>라벨링</a:t>
            </a:r>
            <a:endParaRPr lang="en-US" sz="2600" b="0" i="0" u="none" strike="noStrike" spc="200" dirty="0">
              <a:solidFill>
                <a:srgbClr val="F5F5F5"/>
              </a:solidFill>
              <a:latin typeface="Pretendard Semi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918700" y="7612016"/>
            <a:ext cx="2362200" cy="1320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ko-KR" altLang="en-US" sz="2400" b="0" i="0" u="none" strike="noStrike" dirty="0" smtClean="0">
                <a:solidFill>
                  <a:srgbClr val="000000"/>
                </a:solidFill>
                <a:ea typeface="Pretendard Regular"/>
              </a:rPr>
              <a:t>키와 몸무게 컬럼 정규화 진행</a:t>
            </a:r>
            <a:endParaRPr lang="en-US" sz="2400" b="0" i="0" u="none" strike="noStrike" dirty="0">
              <a:solidFill>
                <a:srgbClr val="000000"/>
              </a:solidFill>
              <a:latin typeface="Pretendard Regular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045700" y="6464300"/>
            <a:ext cx="20828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spc="200" dirty="0" smtClean="0">
                <a:solidFill>
                  <a:srgbClr val="F5F5F5"/>
                </a:solidFill>
                <a:ea typeface="Pretendard SemiBold"/>
              </a:rPr>
              <a:t>정규화</a:t>
            </a:r>
            <a:endParaRPr lang="en-US" sz="2600" b="0" i="0" u="none" strike="noStrike" spc="200" dirty="0">
              <a:solidFill>
                <a:srgbClr val="F5F5F5"/>
              </a:solidFill>
              <a:latin typeface="Pretendard Semi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7"/>
              <p:cNvSpPr txBox="1"/>
              <p:nvPr/>
            </p:nvSpPr>
            <p:spPr>
              <a:xfrm>
                <a:off x="6083300" y="6856547"/>
                <a:ext cx="2362200" cy="13208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 algn="ctr">
                  <a:lnSpc>
                    <a:spcPct val="12035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4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Pretendard Regular"/>
                        </a:rPr>
                        <m:t>B</m:t>
                      </m:r>
                      <m:r>
                        <a:rPr lang="en-US" altLang="ko-KR" sz="24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Pretendard Regular"/>
                        </a:rPr>
                        <m:t>𝑀𝐼</m:t>
                      </m:r>
                      <m:r>
                        <a:rPr lang="en-US" altLang="ko-KR" sz="24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Pretendard Regular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ko-KR" altLang="en-US" sz="2400" b="0" i="1" u="none" strike="noStrike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Pretendard Regular"/>
                            </a:rPr>
                          </m:ctrlPr>
                        </m:fPr>
                        <m:num>
                          <m:r>
                            <a:rPr lang="ko-KR" alt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Pretendard Regular"/>
                            </a:rPr>
                            <m:t>몸</m:t>
                          </m:r>
                          <m:r>
                            <a:rPr lang="ko-KR" altLang="en-US" sz="24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Pretendard Regular"/>
                            </a:rPr>
                            <m:t>무</m:t>
                          </m:r>
                          <m:r>
                            <a:rPr lang="ko-KR" alt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Pretendard Regular"/>
                            </a:rPr>
                            <m:t>게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sz="2400" b="0" i="1" u="none" strike="noStrike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Pretendard Regular"/>
                                </a:rPr>
                              </m:ctrlPr>
                            </m:sSupPr>
                            <m:e>
                              <m:r>
                                <a:rPr lang="ko-KR" altLang="en-US" sz="24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Pretendard Regular"/>
                                </a:rPr>
                                <m:t>키</m:t>
                              </m:r>
                            </m:e>
                            <m:sup>
                              <m:r>
                                <a:rPr lang="en-US" altLang="ko-KR" sz="2400" b="0" i="1" u="none" strike="noStrike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Pretendard Regular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sz="2400" b="0" i="0" u="none" strike="noStrike" dirty="0">
                  <a:solidFill>
                    <a:srgbClr val="000000"/>
                  </a:solidFill>
                  <a:ea typeface="Pretendard Regular"/>
                </a:endParaRPr>
              </a:p>
            </p:txBody>
          </p:sp>
        </mc:Choice>
        <mc:Fallback xmlns="">
          <p:sp>
            <p:nvSpPr>
              <p:cNvPr id="27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3300" y="6856547"/>
                <a:ext cx="2362200" cy="13208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8"/>
          <p:cNvSpPr txBox="1"/>
          <p:nvPr/>
        </p:nvSpPr>
        <p:spPr>
          <a:xfrm>
            <a:off x="6159500" y="6464300"/>
            <a:ext cx="20828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00" b="0" i="0" u="none" strike="noStrike" spc="200" dirty="0" smtClean="0">
                <a:solidFill>
                  <a:srgbClr val="F5F5F5"/>
                </a:solidFill>
                <a:ea typeface="Pretendard SemiBold"/>
              </a:rPr>
              <a:t>BMI </a:t>
            </a:r>
            <a:r>
              <a:rPr lang="ko-KR" altLang="en-US" sz="2600" b="0" i="0" u="none" strike="noStrike" spc="200" dirty="0" smtClean="0">
                <a:solidFill>
                  <a:srgbClr val="F5F5F5"/>
                </a:solidFill>
                <a:ea typeface="Pretendard SemiBold"/>
              </a:rPr>
              <a:t>계산</a:t>
            </a:r>
            <a:endParaRPr lang="en-US" sz="2600" b="0" i="0" u="none" strike="noStrike" spc="200" dirty="0">
              <a:solidFill>
                <a:srgbClr val="F5F5F5"/>
              </a:solidFill>
              <a:latin typeface="Pretendard Semi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692457" y="7727405"/>
            <a:ext cx="2966719" cy="1320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ko-KR" altLang="en-US" sz="2400" b="0" i="0" u="none" strike="noStrike" dirty="0" smtClean="0">
                <a:solidFill>
                  <a:srgbClr val="000000"/>
                </a:solidFill>
                <a:ea typeface="Pretendard Regular"/>
              </a:rPr>
              <a:t>과도하게 높거나 낮은 키</a:t>
            </a:r>
            <a:r>
              <a:rPr lang="en-US" altLang="ko-KR" sz="2400" b="0" i="0" u="none" strike="noStrike" dirty="0" smtClean="0">
                <a:solidFill>
                  <a:srgbClr val="000000"/>
                </a:solidFill>
                <a:ea typeface="Pretendard Regular"/>
              </a:rPr>
              <a:t>, </a:t>
            </a:r>
            <a:r>
              <a:rPr lang="ko-KR" altLang="en-US" sz="2400" b="0" i="0" u="none" strike="noStrike" dirty="0" smtClean="0">
                <a:solidFill>
                  <a:srgbClr val="000000"/>
                </a:solidFill>
                <a:ea typeface="Pretendard Regular"/>
              </a:rPr>
              <a:t>과도하게 </a:t>
            </a:r>
            <a:r>
              <a:rPr lang="ko-KR" altLang="en-US" sz="2400" dirty="0" smtClean="0">
                <a:solidFill>
                  <a:srgbClr val="000000"/>
                </a:solidFill>
                <a:ea typeface="Pretendard Regular"/>
              </a:rPr>
              <a:t>크거나 낮은 </a:t>
            </a:r>
            <a:r>
              <a:rPr lang="ko-KR" altLang="en-US" sz="2400" b="0" i="0" u="none" strike="noStrike" dirty="0" smtClean="0">
                <a:solidFill>
                  <a:srgbClr val="000000"/>
                </a:solidFill>
                <a:ea typeface="Pretendard Regular"/>
              </a:rPr>
              <a:t>몸무게를 제거</a:t>
            </a:r>
            <a:endParaRPr lang="en-US" altLang="ko-KR" sz="2400" b="0" i="0" u="none" strike="noStrike" dirty="0" smtClean="0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273300" y="6464300"/>
            <a:ext cx="20828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 spc="200" dirty="0" smtClean="0">
                <a:solidFill>
                  <a:srgbClr val="F5F5F5"/>
                </a:solidFill>
                <a:ea typeface="Pretendard SemiBold"/>
              </a:rPr>
              <a:t>이상치 제거</a:t>
            </a:r>
            <a:endParaRPr lang="en-US" sz="2600" b="0" i="0" u="none" strike="noStrike" spc="200" dirty="0">
              <a:solidFill>
                <a:srgbClr val="F5F5F5"/>
              </a:solidFill>
              <a:latin typeface="Pretendard Semi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902200" y="2895600"/>
            <a:ext cx="84709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400" dirty="0" smtClean="0">
                <a:solidFill>
                  <a:srgbClr val="F5F5F5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데이터 전처리</a:t>
            </a:r>
            <a:endParaRPr lang="en-US" sz="3400" b="0" i="0" u="none" strike="noStrike" dirty="0">
              <a:solidFill>
                <a:srgbClr val="F5F5F5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3302000" y="571500"/>
            <a:ext cx="116840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6000" spc="200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사이즈 추천 시스템</a:t>
            </a:r>
            <a:endParaRPr lang="ko-KR" altLang="ko-KR" sz="6000" spc="2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685800" y="749300"/>
            <a:ext cx="92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spc="200" dirty="0" smtClean="0">
                <a:solidFill>
                  <a:srgbClr val="000000"/>
                </a:solidFill>
                <a:latin typeface="Pretendard Medium"/>
              </a:rPr>
              <a:t>12</a:t>
            </a:r>
            <a:endParaRPr lang="en-US" sz="4000" b="0" i="0" u="none" strike="noStrike" spc="200" dirty="0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34" name="TextBox 27"/>
          <p:cNvSpPr txBox="1"/>
          <p:nvPr/>
        </p:nvSpPr>
        <p:spPr>
          <a:xfrm>
            <a:off x="5355772" y="7411358"/>
            <a:ext cx="3746137" cy="1320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en-US" altLang="ko-KR" sz="2000" b="0" i="0" u="none" strike="noStrike" dirty="0" smtClean="0">
                <a:solidFill>
                  <a:srgbClr val="000000"/>
                </a:solidFill>
                <a:ea typeface="Pretendard Regular"/>
              </a:rPr>
              <a:t>BMI </a:t>
            </a:r>
            <a:r>
              <a:rPr lang="ko-KR" altLang="en-US" sz="2000" b="0" i="0" u="none" strike="noStrike" dirty="0" smtClean="0">
                <a:solidFill>
                  <a:srgbClr val="000000"/>
                </a:solidFill>
                <a:ea typeface="Pretendard Regular"/>
              </a:rPr>
              <a:t>계산 후 새로운 범주형 변수 추가</a:t>
            </a:r>
            <a:endParaRPr lang="ko-KR" sz="2000" b="0" i="0" u="none" strike="noStrike" dirty="0">
              <a:solidFill>
                <a:srgbClr val="000000"/>
              </a:solidFill>
              <a:ea typeface="Pretendard Regula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27"/>
              <p:cNvSpPr txBox="1"/>
              <p:nvPr/>
            </p:nvSpPr>
            <p:spPr>
              <a:xfrm>
                <a:off x="6005376" y="8337096"/>
                <a:ext cx="2755900" cy="13208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>
                  <a:lnSpc>
                    <a:spcPct val="120350"/>
                  </a:lnSpc>
                </a:pPr>
                <a:r>
                  <a:rPr lang="en-US" altLang="ko-KR" sz="2000" b="0" i="0" u="none" strike="noStrike" dirty="0" smtClean="0">
                    <a:solidFill>
                      <a:srgbClr val="000000"/>
                    </a:solidFill>
                    <a:ea typeface="Pretendard Regular"/>
                  </a:rPr>
                  <a:t>BMI </a:t>
                </a:r>
                <a:r>
                  <a:rPr lang="en-US" altLang="ko-KR" sz="2000" dirty="0" smtClean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sz="2000" b="0" i="0" u="none" strike="noStrike" dirty="0" smtClean="0">
                    <a:solidFill>
                      <a:srgbClr val="000000"/>
                    </a:solidFill>
                    <a:ea typeface="Pretendard Regular"/>
                  </a:rPr>
                  <a:t>  18.5	</a:t>
                </a:r>
                <a:r>
                  <a:rPr lang="ko-KR" altLang="en-US" sz="2000" b="0" i="0" u="none" strike="noStrike" dirty="0" err="1" smtClean="0">
                    <a:solidFill>
                      <a:srgbClr val="000000"/>
                    </a:solidFill>
                    <a:ea typeface="Pretendard Regular"/>
                  </a:rPr>
                  <a:t>저체중</a:t>
                </a:r>
                <a:endParaRPr lang="en-US" altLang="ko-KR" sz="2000" b="0" i="0" u="none" strike="noStrike" dirty="0" smtClean="0">
                  <a:solidFill>
                    <a:srgbClr val="000000"/>
                  </a:solidFill>
                  <a:ea typeface="Pretendard Regular"/>
                </a:endParaRPr>
              </a:p>
              <a:p>
                <a:pPr lvl="0">
                  <a:lnSpc>
                    <a:spcPct val="120350"/>
                  </a:lnSpc>
                </a:pPr>
                <a:r>
                  <a:rPr lang="en-US" altLang="ko-KR" sz="2000" dirty="0" smtClean="0">
                    <a:solidFill>
                      <a:srgbClr val="000000"/>
                    </a:solidFill>
                    <a:ea typeface="Pretendard Regular"/>
                  </a:rPr>
                  <a:t>18.5 &lt; BMI &lt; 25	</a:t>
                </a:r>
                <a:r>
                  <a:rPr lang="ko-KR" altLang="en-US" sz="2000" dirty="0" smtClean="0">
                    <a:solidFill>
                      <a:srgbClr val="000000"/>
                    </a:solidFill>
                    <a:ea typeface="Pretendard Regular"/>
                  </a:rPr>
                  <a:t>정상</a:t>
                </a:r>
                <a:endParaRPr lang="en-US" altLang="ko-KR" sz="2000" dirty="0" smtClean="0">
                  <a:solidFill>
                    <a:srgbClr val="000000"/>
                  </a:solidFill>
                  <a:ea typeface="Pretendard Regular"/>
                </a:endParaRPr>
              </a:p>
              <a:p>
                <a:pPr lvl="0">
                  <a:lnSpc>
                    <a:spcPct val="120350"/>
                  </a:lnSpc>
                </a:pPr>
                <a:r>
                  <a:rPr lang="en-US" altLang="ko-KR" sz="2000" dirty="0" smtClean="0">
                    <a:solidFill>
                      <a:srgbClr val="000000"/>
                    </a:solidFill>
                    <a:ea typeface="Pretendard Regular"/>
                  </a:rPr>
                  <a:t>25 </a:t>
                </a:r>
                <a14:m>
                  <m:oMath xmlns:m="http://schemas.openxmlformats.org/officeDocument/2006/math">
                    <m:r>
                      <a:rPr lang="en-US" altLang="ko-KR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sz="2000" dirty="0" smtClean="0">
                    <a:solidFill>
                      <a:srgbClr val="000000"/>
                    </a:solidFill>
                    <a:ea typeface="Pretendard Regular"/>
                  </a:rPr>
                  <a:t> BMI 	</a:t>
                </a:r>
                <a:r>
                  <a:rPr lang="ko-KR" altLang="en-US" sz="2000" dirty="0" smtClean="0">
                    <a:solidFill>
                      <a:srgbClr val="000000"/>
                    </a:solidFill>
                    <a:ea typeface="Pretendard Regular"/>
                  </a:rPr>
                  <a:t>과체중</a:t>
                </a:r>
                <a:endParaRPr lang="ko-KR" sz="2000" b="0" i="0" u="none" strike="noStrike" dirty="0">
                  <a:solidFill>
                    <a:srgbClr val="000000"/>
                  </a:solidFill>
                  <a:ea typeface="Pretendard Regular"/>
                </a:endParaRPr>
              </a:p>
            </p:txBody>
          </p:sp>
        </mc:Choice>
        <mc:Fallback xmlns="">
          <p:sp>
            <p:nvSpPr>
              <p:cNvPr id="35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376" y="8337096"/>
                <a:ext cx="2755900" cy="1320800"/>
              </a:xfrm>
              <a:prstGeom prst="rect">
                <a:avLst/>
              </a:prstGeom>
              <a:blipFill>
                <a:blip r:embed="rId16"/>
                <a:stretch>
                  <a:fillRect l="-5531" b="-13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직사각형 35"/>
          <p:cNvSpPr/>
          <p:nvPr/>
        </p:nvSpPr>
        <p:spPr>
          <a:xfrm>
            <a:off x="5675584" y="8337096"/>
            <a:ext cx="3046276" cy="13208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03100" y="5130800"/>
            <a:ext cx="114046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219700" y="5130800"/>
            <a:ext cx="11404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9791700"/>
            <a:ext cx="18669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500" y="1765300"/>
            <a:ext cx="18923000" cy="12700"/>
          </a:xfrm>
          <a:prstGeom prst="rect">
            <a:avLst/>
          </a:prstGeom>
          <a:effectLst>
            <a:outerShdw blurRad="2" dist="141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482600"/>
            <a:ext cx="18669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824200" y="1117600"/>
            <a:ext cx="12827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68400" y="1117600"/>
            <a:ext cx="12827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9156700" y="6426200"/>
            <a:ext cx="51435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987800" y="6426200"/>
            <a:ext cx="5143500" cy="25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2463800"/>
            <a:ext cx="13817600" cy="762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76700" y="762000"/>
            <a:ext cx="723900" cy="723900"/>
          </a:xfrm>
          <a:prstGeom prst="rect">
            <a:avLst/>
          </a:prstGeom>
        </p:spPr>
      </p:pic>
      <p:grpSp>
        <p:nvGrpSpPr>
          <p:cNvPr id="28" name="그룹 27"/>
          <p:cNvGrpSpPr/>
          <p:nvPr/>
        </p:nvGrpSpPr>
        <p:grpSpPr>
          <a:xfrm>
            <a:off x="2128157" y="3394469"/>
            <a:ext cx="14031686" cy="3581401"/>
            <a:chOff x="1255486" y="4229099"/>
            <a:chExt cx="15887700" cy="4035425"/>
          </a:xfrm>
        </p:grpSpPr>
        <p:grpSp>
          <p:nvGrpSpPr>
            <p:cNvPr id="25" name="그룹 24"/>
            <p:cNvGrpSpPr/>
            <p:nvPr/>
          </p:nvGrpSpPr>
          <p:grpSpPr>
            <a:xfrm>
              <a:off x="1255486" y="4229099"/>
              <a:ext cx="15887700" cy="4035425"/>
              <a:chOff x="2235200" y="3937000"/>
              <a:chExt cx="13804900" cy="3454400"/>
            </a:xfrm>
          </p:grpSpPr>
          <p:pic>
            <p:nvPicPr>
              <p:cNvPr id="9" name="Picture 9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585700" y="3937000"/>
                <a:ext cx="3454400" cy="3454400"/>
              </a:xfrm>
              <a:prstGeom prst="rect">
                <a:avLst/>
              </a:prstGeom>
            </p:spPr>
          </p:pic>
          <p:pic>
            <p:nvPicPr>
              <p:cNvPr id="11" name="Picture 11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16800" y="3937000"/>
                <a:ext cx="3454400" cy="3454400"/>
              </a:xfrm>
              <a:prstGeom prst="rect">
                <a:avLst/>
              </a:prstGeom>
            </p:spPr>
          </p:pic>
          <p:pic>
            <p:nvPicPr>
              <p:cNvPr id="13" name="Picture 13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35200" y="3937000"/>
                <a:ext cx="3454400" cy="3454400"/>
              </a:xfrm>
              <a:prstGeom prst="rect">
                <a:avLst/>
              </a:prstGeom>
            </p:spPr>
          </p:pic>
        </p:grpSp>
        <p:sp>
          <p:nvSpPr>
            <p:cNvPr id="17" name="TextBox 17"/>
            <p:cNvSpPr txBox="1"/>
            <p:nvPr/>
          </p:nvSpPr>
          <p:spPr>
            <a:xfrm>
              <a:off x="13445313" y="5030250"/>
              <a:ext cx="3449399" cy="24034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1220"/>
                </a:lnSpc>
              </a:pPr>
              <a:r>
                <a:rPr lang="en-US" altLang="ko-KR" sz="3000" b="0" i="0" u="none" strike="noStrike" dirty="0" smtClean="0">
                  <a:solidFill>
                    <a:srgbClr val="F5F5F5"/>
                  </a:solidFill>
                  <a:ea typeface="Pretendard SemiBold"/>
                </a:rPr>
                <a:t>RANDOM FOREST</a:t>
              </a:r>
              <a:endParaRPr lang="ko-KR" sz="3000" b="0" i="0" u="none" strike="noStrike" dirty="0">
                <a:solidFill>
                  <a:srgbClr val="F5F5F5"/>
                </a:solidFill>
                <a:ea typeface="Pretendard SemiBold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1944" y="5030250"/>
              <a:ext cx="3449399" cy="24034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1220"/>
                </a:lnSpc>
              </a:pPr>
              <a:r>
                <a:rPr lang="en-US" altLang="ko-KR" sz="3000" b="0" i="0" u="none" strike="noStrike" dirty="0" smtClean="0">
                  <a:solidFill>
                    <a:srgbClr val="F5F5F5"/>
                  </a:solidFill>
                  <a:ea typeface="Pretendard SemiBold"/>
                </a:rPr>
                <a:t>XGBOOST</a:t>
              </a:r>
              <a:endParaRPr lang="ko-KR" sz="3000" b="0" i="0" u="none" strike="noStrike" dirty="0">
                <a:solidFill>
                  <a:srgbClr val="F5F5F5"/>
                </a:solidFill>
                <a:ea typeface="Pretendard SemiBold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33192" y="5030250"/>
              <a:ext cx="3449399" cy="24034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1220"/>
                </a:lnSpc>
              </a:pPr>
              <a:r>
                <a:rPr lang="en-US" altLang="ko-KR" sz="3000" dirty="0" smtClean="0">
                  <a:solidFill>
                    <a:srgbClr val="F5F5F5"/>
                  </a:solidFill>
                  <a:ea typeface="Pretendard SemiBold"/>
                </a:rPr>
                <a:t>LOGISTIG REGRESSION</a:t>
              </a:r>
              <a:endParaRPr lang="ko-KR" sz="3000" b="0" i="0" u="none" strike="noStrike" dirty="0">
                <a:solidFill>
                  <a:srgbClr val="F5F5F5"/>
                </a:solidFill>
                <a:ea typeface="Pretendard SemiBold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3111500" y="2628900"/>
            <a:ext cx="120650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ko-KR" altLang="en-US" sz="2400" b="0" i="0" u="none" strike="noStrike" dirty="0" smtClean="0"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 모델링</a:t>
            </a:r>
            <a:endParaRPr lang="en-US" sz="2400" b="0" i="0" u="none" strike="noStrike" dirty="0">
              <a:solidFill>
                <a:srgbClr val="FFFFF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302000" y="571500"/>
            <a:ext cx="116840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6000" spc="200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사이즈 추천 시스템</a:t>
            </a:r>
            <a:endParaRPr lang="ko-KR" altLang="ko-KR" sz="6000" spc="2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85800" y="749300"/>
            <a:ext cx="92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spc="200" dirty="0" smtClean="0">
                <a:solidFill>
                  <a:srgbClr val="000000"/>
                </a:solidFill>
                <a:latin typeface="Pretendard Medium"/>
              </a:rPr>
              <a:t>13</a:t>
            </a:r>
            <a:endParaRPr lang="en-US" sz="4000" b="0" i="0" u="none" strike="noStrike" spc="200" dirty="0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27" name="TextBox 21"/>
          <p:cNvSpPr txBox="1"/>
          <p:nvPr/>
        </p:nvSpPr>
        <p:spPr>
          <a:xfrm>
            <a:off x="3750560" y="8221516"/>
            <a:ext cx="11425434" cy="240345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1220"/>
              </a:lnSpc>
            </a:pPr>
            <a:r>
              <a:rPr lang="en-US" altLang="ko-KR" sz="3000" dirty="0" smtClean="0">
                <a:solidFill>
                  <a:srgbClr val="C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&gt;&gt; 3</a:t>
            </a:r>
            <a:r>
              <a:rPr lang="ko-KR" altLang="en-US" sz="3000" dirty="0" smtClean="0">
                <a:solidFill>
                  <a:srgbClr val="C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개의 모델을 비교하여 가장 성능이 좋은 </a:t>
            </a:r>
            <a:r>
              <a:rPr lang="en-US" altLang="ko-KR" sz="3000" dirty="0" smtClean="0">
                <a:solidFill>
                  <a:srgbClr val="C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XGBOOST </a:t>
            </a:r>
            <a:r>
              <a:rPr lang="ko-KR" altLang="en-US" sz="3000" dirty="0" smtClean="0">
                <a:solidFill>
                  <a:srgbClr val="C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</a:t>
            </a:r>
            <a:endParaRPr lang="ko-KR" sz="3000" b="0" i="0" u="none" strike="noStrike" dirty="0">
              <a:solidFill>
                <a:srgbClr val="C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26835" y="7013141"/>
            <a:ext cx="3362566" cy="2016000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26540" y="6990294"/>
            <a:ext cx="3452598" cy="2016000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51561" y="6990294"/>
            <a:ext cx="3849483" cy="201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03100" y="5130800"/>
            <a:ext cx="114046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219700" y="5130800"/>
            <a:ext cx="11404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9791700"/>
            <a:ext cx="18669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500" y="1765300"/>
            <a:ext cx="18923000" cy="12700"/>
          </a:xfrm>
          <a:prstGeom prst="rect">
            <a:avLst/>
          </a:prstGeom>
          <a:effectLst>
            <a:outerShdw blurRad="2" dist="141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482600"/>
            <a:ext cx="18669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824200" y="1117600"/>
            <a:ext cx="12827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68400" y="1117600"/>
            <a:ext cx="12827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3873500"/>
            <a:ext cx="6667500" cy="5740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5200" y="7518400"/>
            <a:ext cx="57150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5200" y="3873500"/>
            <a:ext cx="6667500" cy="5740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7800" y="7518400"/>
            <a:ext cx="5715000" cy="2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5200" y="2463800"/>
            <a:ext cx="13817600" cy="762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76700" y="762000"/>
            <a:ext cx="723900" cy="7239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944100" y="7823200"/>
            <a:ext cx="5537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결과가 잘 예측되는 것을 알 수 있음</a:t>
            </a:r>
            <a:endParaRPr lang="en-US" sz="2400" b="0" i="0" u="none" strike="noStrike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658600" y="4521200"/>
            <a:ext cx="2108200" cy="64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600" b="0" i="0" u="none" strike="noStrike" spc="200" dirty="0">
                <a:solidFill>
                  <a:srgbClr val="F5F5F5"/>
                </a:solidFill>
                <a:ea typeface="Pretendard SemiBold"/>
              </a:rPr>
              <a:t>결과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111500" y="2628900"/>
            <a:ext cx="120650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en-US" altLang="ko-KR" sz="2400" b="0" i="0" u="none" strike="noStrike" dirty="0" smtClean="0"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XGBOOST </a:t>
            </a:r>
            <a:r>
              <a:rPr lang="ko-KR" altLang="en-US" sz="2400" b="0" i="0" u="none" strike="noStrike" dirty="0" smtClean="0"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모델링</a:t>
            </a:r>
            <a:endParaRPr lang="en-US" sz="2400" b="0" i="0" u="none" strike="noStrike" dirty="0">
              <a:solidFill>
                <a:srgbClr val="FFFFF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302000" y="571500"/>
            <a:ext cx="116840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6000" spc="200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사이즈 추천 시스템</a:t>
            </a:r>
            <a:endParaRPr lang="ko-KR" altLang="ko-KR" sz="6000" spc="2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85800" y="749300"/>
            <a:ext cx="92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spc="200" dirty="0" smtClean="0">
                <a:solidFill>
                  <a:srgbClr val="000000"/>
                </a:solidFill>
                <a:latin typeface="Pretendard Medium"/>
              </a:rPr>
              <a:t>14</a:t>
            </a:r>
            <a:endParaRPr lang="en-US" sz="4000" b="0" i="0" u="none" strike="noStrike" spc="200" dirty="0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30" name="TextBox 20"/>
          <p:cNvSpPr txBox="1"/>
          <p:nvPr/>
        </p:nvSpPr>
        <p:spPr>
          <a:xfrm>
            <a:off x="2717800" y="7823200"/>
            <a:ext cx="5537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400" b="0" i="0" u="none" strike="noStrike" dirty="0" err="1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하이퍼</a:t>
            </a:r>
            <a:r>
              <a:rPr lang="ko-KR" altLang="en-US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2400" b="0" i="0" u="none" strike="noStrike" dirty="0" err="1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파라미터</a:t>
            </a:r>
            <a:r>
              <a:rPr lang="ko-KR" altLang="en-US" sz="24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튜닝을 진행</a:t>
            </a:r>
            <a:endParaRPr lang="en-US" sz="2400" b="0" i="0" u="none" strike="noStrike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89693" y="4147785"/>
            <a:ext cx="6158513" cy="3167959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67252" y="4817920"/>
            <a:ext cx="5478195" cy="2308320"/>
          </a:xfrm>
          <a:prstGeom prst="rect">
            <a:avLst/>
          </a:prstGeom>
        </p:spPr>
      </p:pic>
      <p:sp>
        <p:nvSpPr>
          <p:cNvPr id="33" name="TextBox 19"/>
          <p:cNvSpPr txBox="1"/>
          <p:nvPr/>
        </p:nvSpPr>
        <p:spPr>
          <a:xfrm>
            <a:off x="10033000" y="4189451"/>
            <a:ext cx="5537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400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예측 결과</a:t>
            </a:r>
            <a:endParaRPr lang="en-US" sz="2400" b="0" i="0" u="none" strike="noStrike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5" name="TextBox 19"/>
          <p:cNvSpPr txBox="1"/>
          <p:nvPr/>
        </p:nvSpPr>
        <p:spPr>
          <a:xfrm>
            <a:off x="2895600" y="8566422"/>
            <a:ext cx="5537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1600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들어간 데이터의 수가 너무 적고 트기 </a:t>
            </a:r>
            <a:r>
              <a:rPr lang="en-US" altLang="ko-KR" sz="1600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 </a:t>
            </a:r>
            <a:r>
              <a:rPr lang="ko-KR" altLang="en-US" sz="1600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사이즈에 대한 데이터가 부족</a:t>
            </a:r>
            <a:r>
              <a:rPr lang="en-US" altLang="ko-KR" sz="1600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600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후에 시간을 두고 데이터를 더 수집해서 학습시킨다면 정확도가 올라갈 수 있을 것으로 보임 </a:t>
            </a:r>
            <a:endParaRPr lang="en-US" sz="1600" b="0" i="0" u="none" strike="noStrike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6" name="TextBox 19"/>
          <p:cNvSpPr txBox="1"/>
          <p:nvPr/>
        </p:nvSpPr>
        <p:spPr>
          <a:xfrm>
            <a:off x="10036467" y="8534400"/>
            <a:ext cx="55372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20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=&gt; </a:t>
            </a:r>
            <a:r>
              <a:rPr lang="en-US" altLang="ko-KR" sz="2000" b="0" i="0" u="none" strike="noStrike" dirty="0" smtClean="0">
                <a:solidFill>
                  <a:schemeClr val="tx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175cm 70kg </a:t>
            </a:r>
            <a:r>
              <a:rPr lang="ko-KR" altLang="en-US" sz="2000" b="0" i="0" u="none" strike="noStrike" dirty="0" smtClean="0">
                <a:solidFill>
                  <a:schemeClr val="tx2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남성</a:t>
            </a:r>
            <a:r>
              <a:rPr lang="ko-KR" altLang="en-US" sz="20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에게 추천되는 사이즈는 </a:t>
            </a:r>
            <a:r>
              <a:rPr lang="en-US" altLang="ko-KR" sz="20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</a:t>
            </a:r>
            <a:r>
              <a:rPr lang="ko-KR" altLang="en-US" sz="20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사이즈 입니다</a:t>
            </a:r>
            <a:r>
              <a:rPr lang="en-US" altLang="ko-KR" sz="2000" b="0" i="0" u="none" strike="noStrike" dirty="0" smtClean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lang="en-US" sz="2000" b="0" i="0" u="none" strike="noStrike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03100" y="5130800"/>
            <a:ext cx="114046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219700" y="5130800"/>
            <a:ext cx="11404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9791700"/>
            <a:ext cx="18669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500" y="1765300"/>
            <a:ext cx="18923000" cy="12700"/>
          </a:xfrm>
          <a:prstGeom prst="rect">
            <a:avLst/>
          </a:prstGeom>
          <a:effectLst>
            <a:outerShdw blurRad="2" dist="141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482600"/>
            <a:ext cx="18669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824200" y="1117600"/>
            <a:ext cx="12827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68400" y="1117600"/>
            <a:ext cx="12827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76700" y="762000"/>
            <a:ext cx="723900" cy="7239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968500" y="8115300"/>
            <a:ext cx="58039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회사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,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사업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소개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등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전체적인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개요를</a:t>
            </a:r>
          </a:p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작성하는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페이지입니다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.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기본적인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정보를</a:t>
            </a:r>
          </a:p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공유하기에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적합합니다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27700" y="571500"/>
            <a:ext cx="68453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6000" b="0" i="0" u="none" strike="noStrike" spc="200" dirty="0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서비스</a:t>
            </a:r>
            <a:endParaRPr lang="ko-KR" sz="6000" b="0" i="0" u="none" strike="noStrike" spc="2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85800" y="749300"/>
            <a:ext cx="92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spc="200" dirty="0">
                <a:solidFill>
                  <a:srgbClr val="000000"/>
                </a:solidFill>
                <a:latin typeface="Pretendard Medium"/>
              </a:rPr>
              <a:t>1</a:t>
            </a:r>
            <a:r>
              <a:rPr lang="en-US" sz="4000" b="0" i="0" u="none" strike="noStrike" spc="200" dirty="0" smtClean="0">
                <a:solidFill>
                  <a:srgbClr val="000000"/>
                </a:solidFill>
                <a:latin typeface="Pretendard Medium"/>
              </a:rPr>
              <a:t>5</a:t>
            </a:r>
            <a:endParaRPr lang="en-US" sz="4000" b="0" i="0" u="none" strike="noStrike" spc="200" dirty="0">
              <a:solidFill>
                <a:srgbClr val="000000"/>
              </a:solidFill>
              <a:latin typeface="Pretendard Medium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583698"/>
            <a:ext cx="5906324" cy="53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42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03100" y="5130800"/>
            <a:ext cx="114046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219700" y="5130800"/>
            <a:ext cx="11404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9791700"/>
            <a:ext cx="18669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500" y="1765300"/>
            <a:ext cx="18923000" cy="12700"/>
          </a:xfrm>
          <a:prstGeom prst="rect">
            <a:avLst/>
          </a:prstGeom>
          <a:effectLst>
            <a:outerShdw blurRad="2" dist="141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482600"/>
            <a:ext cx="18669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824200" y="1117600"/>
            <a:ext cx="12827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68400" y="1117600"/>
            <a:ext cx="12827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76700" y="762000"/>
            <a:ext cx="723900" cy="7239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968500" y="8115300"/>
            <a:ext cx="58039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회사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,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사업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소개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등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전체적인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개요를</a:t>
            </a:r>
          </a:p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작성하는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페이지입니다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.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기본적인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정보를</a:t>
            </a:r>
          </a:p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공유하기에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적합합니다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27700" y="571500"/>
            <a:ext cx="68453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6000" b="0" i="0" u="none" strike="noStrike" spc="200" dirty="0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서비스</a:t>
            </a:r>
            <a:endParaRPr lang="ko-KR" sz="6000" b="0" i="0" u="none" strike="noStrike" spc="2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85800" y="749300"/>
            <a:ext cx="92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spc="200" dirty="0" smtClean="0">
                <a:solidFill>
                  <a:srgbClr val="000000"/>
                </a:solidFill>
                <a:latin typeface="Pretendard Medium"/>
              </a:rPr>
              <a:t>16</a:t>
            </a:r>
            <a:endParaRPr lang="en-US" sz="4000" b="0" i="0" u="none" strike="noStrike" spc="200" dirty="0">
              <a:solidFill>
                <a:srgbClr val="000000"/>
              </a:solidFill>
              <a:latin typeface="Pretendard Medium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2578" y="2330712"/>
            <a:ext cx="11955543" cy="640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89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03100" y="5130800"/>
            <a:ext cx="114046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219700" y="5130800"/>
            <a:ext cx="11404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9791700"/>
            <a:ext cx="18669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500" y="1765300"/>
            <a:ext cx="18923000" cy="12700"/>
          </a:xfrm>
          <a:prstGeom prst="rect">
            <a:avLst/>
          </a:prstGeom>
          <a:effectLst>
            <a:outerShdw blurRad="2" dist="141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482600"/>
            <a:ext cx="18669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824200" y="1117600"/>
            <a:ext cx="12827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68400" y="1117600"/>
            <a:ext cx="12827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76700" y="762000"/>
            <a:ext cx="723900" cy="7239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968500" y="8115300"/>
            <a:ext cx="58039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회사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,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사업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소개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등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전체적인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개요를</a:t>
            </a:r>
          </a:p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작성하는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페이지입니다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.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기본적인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정보를</a:t>
            </a:r>
          </a:p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공유하기에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400" b="0" i="0" u="none" strike="noStrike">
                <a:solidFill>
                  <a:srgbClr val="FFFFFF"/>
                </a:solidFill>
                <a:ea typeface="Pretendard Regular"/>
              </a:rPr>
              <a:t>적합합니다</a:t>
            </a:r>
            <a:r>
              <a:rPr lang="en-US" sz="2400" b="0" i="0" u="none" strike="noStrike">
                <a:solidFill>
                  <a:srgbClr val="FFFFFF"/>
                </a:solidFill>
                <a:latin typeface="Pretendard Regular"/>
              </a:rPr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27700" y="571500"/>
            <a:ext cx="68453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6000" b="0" i="0" u="none" strike="noStrike" spc="200" dirty="0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서비스</a:t>
            </a:r>
            <a:endParaRPr lang="ko-KR" sz="6000" b="0" i="0" u="none" strike="noStrike" spc="2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85800" y="749300"/>
            <a:ext cx="92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spc="200" dirty="0" smtClean="0">
                <a:solidFill>
                  <a:srgbClr val="000000"/>
                </a:solidFill>
                <a:latin typeface="Pretendard Medium"/>
              </a:rPr>
              <a:t>17</a:t>
            </a:r>
            <a:endParaRPr lang="en-US" sz="4000" b="0" i="0" u="none" strike="noStrike" spc="200" dirty="0">
              <a:solidFill>
                <a:srgbClr val="000000"/>
              </a:solidFill>
              <a:latin typeface="Pretendard Medium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9400" y="2231711"/>
            <a:ext cx="5492172" cy="632431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600" y="2001982"/>
            <a:ext cx="3751833" cy="679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03100" y="5130800"/>
            <a:ext cx="114046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219700" y="5130800"/>
            <a:ext cx="11404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9791700"/>
            <a:ext cx="18669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500" y="1765300"/>
            <a:ext cx="18923000" cy="12700"/>
          </a:xfrm>
          <a:prstGeom prst="rect">
            <a:avLst/>
          </a:prstGeom>
          <a:effectLst>
            <a:outerShdw blurRad="2" dist="141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482600"/>
            <a:ext cx="18669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824200" y="1117600"/>
            <a:ext cx="12827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68400" y="1117600"/>
            <a:ext cx="12827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76700" y="762000"/>
            <a:ext cx="723900" cy="7239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5727700" y="571500"/>
            <a:ext cx="68453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6000" spc="200" dirty="0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배포</a:t>
            </a:r>
            <a:endParaRPr lang="ko-KR" sz="6000" b="0" i="0" u="none" strike="noStrike" spc="2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85800" y="749300"/>
            <a:ext cx="92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spc="200" dirty="0" smtClean="0">
                <a:solidFill>
                  <a:srgbClr val="000000"/>
                </a:solidFill>
                <a:latin typeface="Pretendard Medium"/>
              </a:rPr>
              <a:t>18</a:t>
            </a:r>
            <a:endParaRPr lang="en-US" sz="4000" b="0" i="0" u="none" strike="noStrike" spc="200" dirty="0">
              <a:solidFill>
                <a:srgbClr val="000000"/>
              </a:solidFill>
              <a:latin typeface="Pretendard Medium"/>
            </a:endParaRP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6055" y="2082800"/>
            <a:ext cx="6400800" cy="714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737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03100" y="5130800"/>
            <a:ext cx="114046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219700" y="5130800"/>
            <a:ext cx="11404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9791700"/>
            <a:ext cx="18669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500" y="1765300"/>
            <a:ext cx="18923000" cy="12700"/>
          </a:xfrm>
          <a:prstGeom prst="rect">
            <a:avLst/>
          </a:prstGeom>
          <a:effectLst>
            <a:outerShdw blurRad="2" dist="141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482600"/>
            <a:ext cx="18669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824200" y="1117600"/>
            <a:ext cx="12827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68400" y="1117600"/>
            <a:ext cx="12827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76700" y="762000"/>
            <a:ext cx="723900" cy="7239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5727700" y="571500"/>
            <a:ext cx="68453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6000" spc="200" dirty="0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배포</a:t>
            </a:r>
            <a:endParaRPr lang="ko-KR" sz="6000" b="0" i="0" u="none" strike="noStrike" spc="2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85800" y="749300"/>
            <a:ext cx="92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spc="200" dirty="0" smtClean="0">
                <a:solidFill>
                  <a:srgbClr val="000000"/>
                </a:solidFill>
                <a:latin typeface="Pretendard Medium"/>
              </a:rPr>
              <a:t>19</a:t>
            </a:r>
            <a:endParaRPr lang="en-US" sz="4000" b="0" i="0" u="none" strike="noStrike" spc="200" dirty="0">
              <a:solidFill>
                <a:srgbClr val="000000"/>
              </a:solidFill>
              <a:latin typeface="Pretendard Medium"/>
            </a:endParaRPr>
          </a:p>
        </p:txBody>
      </p:sp>
      <p:pic>
        <p:nvPicPr>
          <p:cNvPr id="30" name="Picture 6" descr="깃 허브 - 무료 사회적인개 아이콘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3543300"/>
            <a:ext cx="3494087" cy="3494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0" descr="Tv 모니터 - 무료 상호 작용개 아이콘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3322" y="4071144"/>
            <a:ext cx="2699543" cy="2699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4" descr="AWS EC2 by FilPyr | Download free STL model | Printables.com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4422" y="4246562"/>
            <a:ext cx="2524125" cy="252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오른쪽 화살표 32"/>
          <p:cNvSpPr/>
          <p:nvPr/>
        </p:nvSpPr>
        <p:spPr>
          <a:xfrm>
            <a:off x="5933082" y="5013325"/>
            <a:ext cx="1003300" cy="4953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오른쪽 화살표 33"/>
          <p:cNvSpPr/>
          <p:nvPr/>
        </p:nvSpPr>
        <p:spPr>
          <a:xfrm>
            <a:off x="10805616" y="5013325"/>
            <a:ext cx="1003300" cy="4953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6008885" y="4618475"/>
            <a:ext cx="113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PUSH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0891688" y="4618475"/>
            <a:ext cx="113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PULL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2833747" y="6770688"/>
            <a:ext cx="67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WEB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7594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103100" y="5130800"/>
            <a:ext cx="11404600" cy="1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219700" y="5130800"/>
            <a:ext cx="11404600" cy="12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9791700"/>
            <a:ext cx="186690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500" y="1765300"/>
            <a:ext cx="18923000" cy="12700"/>
          </a:xfrm>
          <a:prstGeom prst="rect">
            <a:avLst/>
          </a:prstGeom>
          <a:effectLst>
            <a:outerShdw blurRad="2" dist="1419" dir="2700000">
              <a:srgbClr val="000000">
                <a:alpha val="5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0" y="482600"/>
            <a:ext cx="186690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5824200" y="1117600"/>
            <a:ext cx="12827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168400" y="1117600"/>
            <a:ext cx="12827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76700" y="762000"/>
            <a:ext cx="723900" cy="7239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5727700" y="571500"/>
            <a:ext cx="68453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6000" spc="200" dirty="0" err="1" smtClean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아쉬웠던점</a:t>
            </a:r>
            <a:endParaRPr lang="ko-KR" sz="6000" b="0" i="0" u="none" strike="noStrike" spc="2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85800" y="749300"/>
            <a:ext cx="9271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spc="200" dirty="0">
                <a:solidFill>
                  <a:srgbClr val="000000"/>
                </a:solidFill>
                <a:latin typeface="Pretendard Medium"/>
              </a:rPr>
              <a:t>2</a:t>
            </a:r>
            <a:r>
              <a:rPr lang="en-US" sz="4000" b="0" i="0" u="none" strike="noStrike" spc="200" dirty="0" smtClean="0">
                <a:solidFill>
                  <a:srgbClr val="000000"/>
                </a:solidFill>
                <a:latin typeface="Pretendard Medium"/>
              </a:rPr>
              <a:t>0</a:t>
            </a:r>
            <a:endParaRPr lang="en-US" sz="4000" b="0" i="0" u="none" strike="noStrike" spc="200" dirty="0">
              <a:solidFill>
                <a:srgbClr val="000000"/>
              </a:solidFill>
              <a:latin typeface="Pretendard Medium"/>
            </a:endParaRPr>
          </a:p>
        </p:txBody>
      </p:sp>
      <p:graphicFrame>
        <p:nvGraphicFramePr>
          <p:cNvPr id="20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093016"/>
              </p:ext>
            </p:extLst>
          </p:nvPr>
        </p:nvGraphicFramePr>
        <p:xfrm>
          <a:off x="2368550" y="2480805"/>
          <a:ext cx="13563600" cy="6275845"/>
        </p:xfrm>
        <a:graphic>
          <a:graphicData uri="http://schemas.openxmlformats.org/drawingml/2006/table">
            <a:tbl>
              <a:tblPr/>
              <a:tblGrid>
                <a:gridCol w="452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000" dirty="0" err="1" smtClean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강이삭</a:t>
                      </a:r>
                      <a:endParaRPr lang="en-US" altLang="ko-KR" sz="3000" dirty="0" smtClean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000" dirty="0" err="1" smtClean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장은별</a:t>
                      </a:r>
                      <a:endParaRPr lang="en-US" sz="3000" dirty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000" dirty="0" smtClean="0">
                          <a:solidFill>
                            <a:schemeClr val="bg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정수빈</a:t>
                      </a:r>
                      <a:endParaRPr lang="en-US" altLang="ko-KR" sz="3000" dirty="0" smtClean="0">
                        <a:solidFill>
                          <a:schemeClr val="bg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66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aseline="0" dirty="0" smtClean="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매일 크롤링한 데이터를 삭제하고 특정 시간에 갱신을 하고 싶었는데 </a:t>
                      </a:r>
                      <a:r>
                        <a:rPr lang="en-US" altLang="ko-KR" sz="2400" baseline="0" dirty="0" smtClean="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EC2</a:t>
                      </a:r>
                      <a:r>
                        <a:rPr lang="ko-KR" altLang="en-US" sz="2400" baseline="0" dirty="0" smtClean="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프리티어에서 자동으로 돌리니 성능이 </a:t>
                      </a:r>
                      <a:r>
                        <a:rPr lang="ko-KR" altLang="en-US" sz="2400" baseline="0" dirty="0" err="1" smtClean="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안따라</a:t>
                      </a:r>
                      <a:r>
                        <a:rPr lang="ko-KR" altLang="en-US" sz="2400" baseline="0" dirty="0" smtClean="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줘서 </a:t>
                      </a:r>
                      <a:r>
                        <a:rPr lang="ko-KR" altLang="en-US" sz="2400" baseline="0" dirty="0" err="1" smtClean="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못한점이</a:t>
                      </a:r>
                      <a:r>
                        <a:rPr lang="ko-KR" altLang="en-US" sz="2400" baseline="0" dirty="0" smtClean="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아쉬웠습니다</a:t>
                      </a:r>
                      <a:r>
                        <a:rPr lang="en-US" altLang="ko-KR" sz="2400" baseline="0" dirty="0" smtClean="0">
                          <a:solidFill>
                            <a:schemeClr val="tx1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</a:t>
                      </a:r>
                      <a:endParaRPr lang="en-US" altLang="ko-KR" sz="2400" dirty="0" smtClean="0">
                        <a:solidFill>
                          <a:schemeClr val="tx1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dirty="0" smtClean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리뷰에 대한 </a:t>
                      </a:r>
                      <a:r>
                        <a:rPr lang="ko-KR" altLang="en-US" sz="2400" dirty="0" err="1" smtClean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긍부정</a:t>
                      </a:r>
                      <a:r>
                        <a:rPr lang="ko-KR" altLang="en-US" sz="2400" dirty="0" smtClean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키워드를 추출하여 나타내고 싶었는데 못해서 아쉬웠습니다</a:t>
                      </a:r>
                      <a:r>
                        <a:rPr lang="en-US" altLang="ko-KR" sz="2400" dirty="0" smtClean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</a:t>
                      </a:r>
                      <a:endParaRPr lang="en-US" sz="2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dirty="0" smtClean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시간이 부족해서 데이터 수집을 많이 못했습니다</a:t>
                      </a:r>
                      <a:r>
                        <a:rPr lang="en-US" altLang="ko-KR" sz="2400" dirty="0" smtClean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2400" dirty="0" smtClean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그래서 정확도가 높게 측정이 안돼서 아쉬웠습니다</a:t>
                      </a:r>
                      <a:r>
                        <a:rPr lang="en-US" altLang="ko-KR" sz="2400" dirty="0" smtClean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.</a:t>
                      </a:r>
                      <a:endParaRPr lang="en-US" sz="24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61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750</Words>
  <Application>Microsoft Office PowerPoint</Application>
  <PresentationFormat>사용자 지정</PresentationFormat>
  <Paragraphs>284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6" baseType="lpstr">
      <vt:lpstr>G마켓 산스 TTF Light</vt:lpstr>
      <vt:lpstr>Arial</vt:lpstr>
      <vt:lpstr>Cambria Math</vt:lpstr>
      <vt:lpstr>Pretendard Bold</vt:lpstr>
      <vt:lpstr>Pretendard Regular</vt:lpstr>
      <vt:lpstr>Pretendard ExtraBold</vt:lpstr>
      <vt:lpstr>G마켓 산스 TTF Bold</vt:lpstr>
      <vt:lpstr>Pretendard</vt:lpstr>
      <vt:lpstr>Pretendard Medium</vt:lpstr>
      <vt:lpstr>Pretendard SemiBold</vt:lpstr>
      <vt:lpstr>맑은 고딕</vt:lpstr>
      <vt:lpstr>Calibri</vt:lpstr>
      <vt:lpstr>G마켓 산스 TTF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12</cp:revision>
  <dcterms:created xsi:type="dcterms:W3CDTF">2006-08-16T00:00:00Z</dcterms:created>
  <dcterms:modified xsi:type="dcterms:W3CDTF">2024-11-13T07:08:56Z</dcterms:modified>
</cp:coreProperties>
</file>